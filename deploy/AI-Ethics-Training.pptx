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645920"/>
            <a:ext cx="10058400" cy="1097280"/>
          </a:xfrm>
          <a:prstGeom prst="rect">
            <a:avLst/>
          </a:prstGeom>
          <a:noFill/>
        </p:spPr>
        <p:txBody>
          <a:bodyPr wrap="square">
            <a:spAutoFit/>
          </a:bodyPr>
          <a:lstStyle/>
          <a:p>
            <a:pPr algn="ctr">
              <a:defRPr sz="4400" b="1">
                <a:solidFill>
                  <a:srgbClr val="FFFFFF"/>
                </a:solidFill>
              </a:defRPr>
            </a:pPr>
            <a:r>
              <a:t>AI Ethics &amp; Practical Use</a:t>
            </a:r>
          </a:p>
        </p:txBody>
      </p:sp>
      <p:sp>
        <p:nvSpPr>
          <p:cNvPr id="3" name="TextBox 2"/>
          <p:cNvSpPr txBox="1"/>
          <p:nvPr/>
        </p:nvSpPr>
        <p:spPr>
          <a:xfrm>
            <a:off x="914400" y="2926080"/>
            <a:ext cx="10058400" cy="731520"/>
          </a:xfrm>
          <a:prstGeom prst="rect">
            <a:avLst/>
          </a:prstGeom>
          <a:noFill/>
        </p:spPr>
        <p:txBody>
          <a:bodyPr wrap="square">
            <a:spAutoFit/>
          </a:bodyPr>
          <a:lstStyle/>
          <a:p>
            <a:pPr algn="ctr">
              <a:defRPr sz="2800" b="0">
                <a:solidFill>
                  <a:srgbClr val="A0AEC0"/>
                </a:solidFill>
              </a:defRPr>
            </a:pPr>
            <a:r>
              <a:t>for Criminal Defense Attorneys</a:t>
            </a:r>
          </a:p>
        </p:txBody>
      </p:sp>
      <p:sp>
        <p:nvSpPr>
          <p:cNvPr id="4" name="TextBox 3"/>
          <p:cNvSpPr txBox="1"/>
          <p:nvPr/>
        </p:nvSpPr>
        <p:spPr>
          <a:xfrm>
            <a:off x="914400" y="4023360"/>
            <a:ext cx="10058400" cy="548640"/>
          </a:xfrm>
          <a:prstGeom prst="rect">
            <a:avLst/>
          </a:prstGeom>
          <a:noFill/>
        </p:spPr>
        <p:txBody>
          <a:bodyPr wrap="square">
            <a:spAutoFit/>
          </a:bodyPr>
          <a:lstStyle/>
          <a:p>
            <a:pPr algn="ctr">
              <a:defRPr sz="2000" b="0">
                <a:solidFill>
                  <a:srgbClr val="A0AEC0"/>
                </a:solidFill>
              </a:defRPr>
            </a:pPr>
            <a:r>
              <a:t>MSPD + MACDL — 60-Minute Training</a:t>
            </a:r>
          </a:p>
        </p:txBody>
      </p:sp>
      <p:sp>
        <p:nvSpPr>
          <p:cNvPr id="5" name="TextBox 4"/>
          <p:cNvSpPr txBox="1"/>
          <p:nvPr/>
        </p:nvSpPr>
        <p:spPr>
          <a:xfrm>
            <a:off x="914400" y="5029200"/>
            <a:ext cx="10058400" cy="548640"/>
          </a:xfrm>
          <a:prstGeom prst="rect">
            <a:avLst/>
          </a:prstGeom>
          <a:noFill/>
        </p:spPr>
        <p:txBody>
          <a:bodyPr wrap="square">
            <a:spAutoFit/>
          </a:bodyPr>
          <a:lstStyle/>
          <a:p>
            <a:pPr algn="ctr">
              <a:defRPr sz="1800" b="0">
                <a:solidFill>
                  <a:srgbClr val="A0AEC0"/>
                </a:solidFill>
              </a:defRPr>
            </a:pPr>
            <a:r>
              <a:t>Travis Martin — MSPD Legal Technology Strategist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914400"/>
          </a:xfrm>
          <a:prstGeom prst="rect">
            <a:avLst/>
          </a:prstGeom>
          <a:noFill/>
        </p:spPr>
        <p:txBody>
          <a:bodyPr wrap="square">
            <a:spAutoFit/>
          </a:bodyPr>
          <a:lstStyle/>
          <a:p>
            <a:pPr algn="ctr">
              <a:defRPr sz="3600" b="1">
                <a:solidFill>
                  <a:srgbClr val="FFFFFF"/>
                </a:solidFill>
              </a:defRPr>
            </a:pPr>
            <a:r>
              <a:t>Every AI tool handles your data differently</a:t>
            </a:r>
          </a:p>
        </p:txBody>
      </p:sp>
      <p:sp>
        <p:nvSpPr>
          <p:cNvPr id="3" name="TextBox 2"/>
          <p:cNvSpPr txBox="1"/>
          <p:nvPr/>
        </p:nvSpPr>
        <p:spPr>
          <a:xfrm>
            <a:off x="1371600" y="2743200"/>
            <a:ext cx="9144000" cy="1371600"/>
          </a:xfrm>
          <a:prstGeom prst="rect">
            <a:avLst/>
          </a:prstGeom>
          <a:noFill/>
        </p:spPr>
        <p:txBody>
          <a:bodyPr wrap="square">
            <a:spAutoFit/>
          </a:bodyPr>
          <a:lstStyle/>
          <a:p>
            <a:pPr algn="ctr">
              <a:defRPr sz="2200" b="0">
                <a:solidFill>
                  <a:srgbClr val="E2E8F0"/>
                </a:solidFill>
              </a:defRPr>
            </a:pPr>
            <a:r>
              <a:t>Some train on it. Some sell it to advertisers. Some delete it immediately.</a:t>
            </a:r>
            <a:br/>
            <a:r>
              <a:t>Using the wrong tool for the wrong task is an ethics violation.</a:t>
            </a:r>
          </a:p>
        </p:txBody>
      </p:sp>
      <p:sp>
        <p:nvSpPr>
          <p:cNvPr id="4" name="TextBox 3"/>
          <p:cNvSpPr txBox="1"/>
          <p:nvPr/>
        </p:nvSpPr>
        <p:spPr>
          <a:xfrm>
            <a:off x="1371600" y="4572000"/>
            <a:ext cx="9144000" cy="731520"/>
          </a:xfrm>
          <a:prstGeom prst="rect">
            <a:avLst/>
          </a:prstGeom>
          <a:noFill/>
        </p:spPr>
        <p:txBody>
          <a:bodyPr wrap="square">
            <a:spAutoFit/>
          </a:bodyPr>
          <a:lstStyle/>
          <a:p>
            <a:pPr algn="ctr">
              <a:defRPr sz="2000" b="0">
                <a:solidFill>
                  <a:srgbClr val="FAF089"/>
                </a:solidFill>
              </a:defRPr>
            </a:pPr>
            <a:r>
              <a:t>Missouri Opinion 2024-11 requires you to know the difference.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731520"/>
            <a:ext cx="10058400" cy="731520"/>
          </a:xfrm>
          <a:prstGeom prst="rect">
            <a:avLst/>
          </a:prstGeom>
          <a:noFill/>
        </p:spPr>
        <p:txBody>
          <a:bodyPr wrap="square">
            <a:spAutoFit/>
          </a:bodyPr>
          <a:lstStyle/>
          <a:p>
            <a:pPr algn="l">
              <a:defRPr sz="3600" b="1">
                <a:solidFill>
                  <a:srgbClr val="FFFFFF"/>
                </a:solidFill>
              </a:defRPr>
            </a:pPr>
            <a:r>
              <a:t>What we'll cover</a:t>
            </a:r>
          </a:p>
        </p:txBody>
      </p:sp>
      <p:sp>
        <p:nvSpPr>
          <p:cNvPr id="3" name="TextBox 2"/>
          <p:cNvSpPr txBox="1"/>
          <p:nvPr/>
        </p:nvSpPr>
        <p:spPr>
          <a:xfrm>
            <a:off x="1097280" y="1645920"/>
            <a:ext cx="9144000" cy="4572000"/>
          </a:xfrm>
          <a:prstGeom prst="rect">
            <a:avLst/>
          </a:prstGeom>
          <a:noFill/>
        </p:spPr>
        <p:txBody>
          <a:bodyPr wrap="square">
            <a:spAutoFit/>
          </a:bodyPr>
          <a:lstStyle/>
          <a:p>
            <a:pPr>
              <a:spcAft>
                <a:spcPts val="800"/>
              </a:spcAft>
              <a:defRPr sz="2200">
                <a:solidFill>
                  <a:srgbClr val="E2E8F0"/>
                </a:solidFill>
              </a:defRPr>
            </a:pPr>
            <a:r>
              <a:t>•  The 4-tier framework for data protection</a:t>
            </a:r>
          </a:p>
          <a:p>
            <a:pPr>
              <a:spcAft>
                <a:spcPts val="800"/>
              </a:spcAft>
              <a:defRPr sz="2200">
                <a:solidFill>
                  <a:srgbClr val="E2E8F0"/>
                </a:solidFill>
              </a:defRPr>
            </a:pPr>
            <a:r>
              <a:t>•  How to tell which tier a tool is in</a:t>
            </a:r>
          </a:p>
          <a:p>
            <a:pPr>
              <a:spcAft>
                <a:spcPts val="800"/>
              </a:spcAft>
              <a:defRPr sz="2200">
                <a:solidFill>
                  <a:srgbClr val="E2E8F0"/>
                </a:solidFill>
              </a:defRPr>
            </a:pPr>
            <a:r>
              <a:t>•  Practical demos: research, drafting, transcription</a:t>
            </a:r>
          </a:p>
          <a:p>
            <a:pPr>
              <a:spcAft>
                <a:spcPts val="800"/>
              </a:spcAft>
              <a:defRPr sz="2200">
                <a:solidFill>
                  <a:srgbClr val="E2E8F0"/>
                </a:solidFill>
              </a:defRPr>
            </a:pPr>
            <a:r>
              <a:t>•  What Missouri requires (Opinion 2024-11)</a:t>
            </a:r>
          </a:p>
          <a:p>
            <a:pPr>
              <a:spcAft>
                <a:spcPts val="800"/>
              </a:spcAft>
              <a:defRPr sz="2200">
                <a:solidFill>
                  <a:srgbClr val="E2E8F0"/>
                </a:solidFill>
              </a:defRPr>
            </a:pPr>
            <a:r>
              <a:t>•  The feedback trap (it's worse than you think)</a:t>
            </a:r>
          </a:p>
          <a:p>
            <a:pPr>
              <a:spcAft>
                <a:spcPts val="800"/>
              </a:spcAft>
              <a:defRPr sz="2200">
                <a:solidFill>
                  <a:srgbClr val="E2E8F0"/>
                </a:solidFill>
              </a:defRPr>
            </a:pPr>
            <a:r>
              <a:t>•  Tools you can start using today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914400"/>
          </a:xfrm>
          <a:prstGeom prst="rect">
            <a:avLst/>
          </a:prstGeom>
          <a:noFill/>
        </p:spPr>
        <p:txBody>
          <a:bodyPr wrap="square">
            <a:spAutoFit/>
          </a:bodyPr>
          <a:lstStyle/>
          <a:p>
            <a:pPr algn="ctr">
              <a:defRPr sz="3600" b="1">
                <a:solidFill>
                  <a:srgbClr val="FFFFFF"/>
                </a:solidFill>
              </a:defRPr>
            </a:pPr>
            <a:r>
              <a:t>Everything is on the website</a:t>
            </a:r>
          </a:p>
        </p:txBody>
      </p:sp>
      <p:sp>
        <p:nvSpPr>
          <p:cNvPr id="3" name="TextBox 2"/>
          <p:cNvSpPr txBox="1"/>
          <p:nvPr/>
        </p:nvSpPr>
        <p:spPr>
          <a:xfrm>
            <a:off x="1371600" y="2743200"/>
            <a:ext cx="9144000" cy="914400"/>
          </a:xfrm>
          <a:prstGeom prst="rect">
            <a:avLst/>
          </a:prstGeom>
          <a:noFill/>
        </p:spPr>
        <p:txBody>
          <a:bodyPr wrap="square">
            <a:spAutoFit/>
          </a:bodyPr>
          <a:lstStyle/>
          <a:p>
            <a:pPr algn="ctr">
              <a:defRPr sz="2200" b="0">
                <a:solidFill>
                  <a:srgbClr val="E2E8F0"/>
                </a:solidFill>
              </a:defRPr>
            </a:pPr>
            <a:r>
              <a:t>Scan the QR code. Bookmark the page.</a:t>
            </a:r>
            <a:br/>
            <a:r>
              <a:t>Come back whenever you're evaluating a new AI tool.</a:t>
            </a:r>
          </a:p>
        </p:txBody>
      </p:sp>
      <p:sp>
        <p:nvSpPr>
          <p:cNvPr id="4" name="Rounded Rectangle 3"/>
          <p:cNvSpPr/>
          <p:nvPr/>
        </p:nvSpPr>
        <p:spPr>
          <a:xfrm>
            <a:off x="4754880" y="3840480"/>
            <a:ext cx="2743200" cy="13716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0" y="4023360"/>
            <a:ext cx="2743200" cy="914400"/>
          </a:xfrm>
          <a:prstGeom prst="rect">
            <a:avLst/>
          </a:prstGeom>
          <a:noFill/>
        </p:spPr>
        <p:txBody>
          <a:bodyPr wrap="square">
            <a:spAutoFit/>
          </a:bodyPr>
          <a:lstStyle/>
          <a:p>
            <a:pPr algn="ctr">
              <a:defRPr sz="1800" b="0">
                <a:solidFill>
                  <a:srgbClr val="A0AEC0"/>
                </a:solidFill>
              </a:defRPr>
            </a:pPr>
            <a:r>
              <a:t>[QR Code]</a:t>
            </a:r>
            <a:br/>
            <a:r>
              <a:t>Add URL here</a:t>
            </a:r>
          </a:p>
        </p:txBody>
      </p:sp>
      <p:sp>
        <p:nvSpPr>
          <p:cNvPr id="6" name="TextBox 5"/>
          <p:cNvSpPr txBox="1"/>
          <p:nvPr/>
        </p:nvSpPr>
        <p:spPr>
          <a:xfrm>
            <a:off x="1371600" y="5669280"/>
            <a:ext cx="9144000" cy="548640"/>
          </a:xfrm>
          <a:prstGeom prst="rect">
            <a:avLst/>
          </a:prstGeom>
          <a:noFill/>
        </p:spPr>
        <p:txBody>
          <a:bodyPr wrap="square">
            <a:spAutoFit/>
          </a:bodyPr>
          <a:lstStyle/>
          <a:p>
            <a:pPr algn="ctr">
              <a:defRPr sz="1800" b="0">
                <a:solidFill>
                  <a:srgbClr val="A0AEC0"/>
                </a:solidFill>
              </a:defRPr>
            </a:pPr>
            <a:r>
              <a:t>We'll use the site as a reference throughout. You don't need to take notes.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spAutoFit/>
          </a:bodyPr>
          <a:lstStyle/>
          <a:p>
            <a:pPr algn="ctr">
              <a:defRPr sz="3600" b="1">
                <a:solidFill>
                  <a:srgbClr val="FFFFFF"/>
                </a:solidFill>
              </a:defRPr>
            </a:pPr>
            <a:r>
              <a:t>The 4 Tiers of Data Protection</a:t>
            </a:r>
          </a:p>
        </p:txBody>
      </p:sp>
      <p:sp>
        <p:nvSpPr>
          <p:cNvPr id="3" name="Rounded Rectangle 2"/>
          <p:cNvSpPr/>
          <p:nvPr/>
        </p:nvSpPr>
        <p:spPr>
          <a:xfrm>
            <a:off x="457200" y="1463040"/>
            <a:ext cx="2743200" cy="4754880"/>
          </a:xfrm>
          <a:prstGeom prst="roundRect">
            <a:avLst/>
          </a:prstGeom>
          <a:solidFill>
            <a:srgbClr val="4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645920"/>
            <a:ext cx="2468880" cy="731520"/>
          </a:xfrm>
          <a:prstGeom prst="rect">
            <a:avLst/>
          </a:prstGeom>
          <a:noFill/>
        </p:spPr>
        <p:txBody>
          <a:bodyPr wrap="square">
            <a:spAutoFit/>
          </a:bodyPr>
          <a:lstStyle/>
          <a:p>
            <a:pPr algn="l">
              <a:defRPr sz="1600" b="1">
                <a:solidFill>
                  <a:srgbClr val="FC8181"/>
                </a:solidFill>
              </a:defRPr>
            </a:pPr>
            <a:r>
              <a:t>Tier 1 — Consumer Default</a:t>
            </a:r>
          </a:p>
        </p:txBody>
      </p:sp>
      <p:sp>
        <p:nvSpPr>
          <p:cNvPr id="5" name="TextBox 4"/>
          <p:cNvSpPr txBox="1"/>
          <p:nvPr/>
        </p:nvSpPr>
        <p:spPr>
          <a:xfrm>
            <a:off x="594360" y="2560320"/>
            <a:ext cx="2468880" cy="3200400"/>
          </a:xfrm>
          <a:prstGeom prst="rect">
            <a:avLst/>
          </a:prstGeom>
          <a:noFill/>
        </p:spPr>
        <p:txBody>
          <a:bodyPr wrap="square">
            <a:spAutoFit/>
          </a:bodyPr>
          <a:lstStyle/>
          <a:p>
            <a:pPr algn="l">
              <a:defRPr sz="1400" b="0">
                <a:solidFill>
                  <a:srgbClr val="E2E8F0"/>
                </a:solidFill>
              </a:defRPr>
            </a:pPr>
            <a:r>
              <a:t>Trains on your data. ChatGPT Free, Claude Free, Gemini personal. Your prompts become the product.</a:t>
            </a:r>
          </a:p>
        </p:txBody>
      </p:sp>
      <p:sp>
        <p:nvSpPr>
          <p:cNvPr id="6" name="Rounded Rectangle 5"/>
          <p:cNvSpPr/>
          <p:nvPr/>
        </p:nvSpPr>
        <p:spPr>
          <a:xfrm>
            <a:off x="3200400" y="1463040"/>
            <a:ext cx="2743200" cy="4754880"/>
          </a:xfrm>
          <a:prstGeom prst="roundRect">
            <a:avLst/>
          </a:prstGeom>
          <a:solidFill>
            <a:srgbClr val="4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37560" y="1645920"/>
            <a:ext cx="2468880" cy="731520"/>
          </a:xfrm>
          <a:prstGeom prst="rect">
            <a:avLst/>
          </a:prstGeom>
          <a:noFill/>
        </p:spPr>
        <p:txBody>
          <a:bodyPr wrap="square">
            <a:spAutoFit/>
          </a:bodyPr>
          <a:lstStyle/>
          <a:p>
            <a:pPr algn="l">
              <a:defRPr sz="1600" b="1">
                <a:solidFill>
                  <a:srgbClr val="FAF089"/>
                </a:solidFill>
              </a:defRPr>
            </a:pPr>
            <a:r>
              <a:t>Tier 2 — Training Off</a:t>
            </a:r>
          </a:p>
        </p:txBody>
      </p:sp>
      <p:sp>
        <p:nvSpPr>
          <p:cNvPr id="8" name="TextBox 7"/>
          <p:cNvSpPr txBox="1"/>
          <p:nvPr/>
        </p:nvSpPr>
        <p:spPr>
          <a:xfrm>
            <a:off x="3337560" y="2560320"/>
            <a:ext cx="2468880" cy="3200400"/>
          </a:xfrm>
          <a:prstGeom prst="rect">
            <a:avLst/>
          </a:prstGeom>
          <a:noFill/>
        </p:spPr>
        <p:txBody>
          <a:bodyPr wrap="square">
            <a:spAutoFit/>
          </a:bodyPr>
          <a:lstStyle/>
          <a:p>
            <a:pPr algn="l">
              <a:defRPr sz="1400" b="0">
                <a:solidFill>
                  <a:srgbClr val="E2E8F0"/>
                </a:solidFill>
              </a:defRPr>
            </a:pPr>
            <a:r>
              <a:t>Consumer tool with training toggled off. Better, but still governed by ToS the vendor can change anytime.</a:t>
            </a:r>
          </a:p>
        </p:txBody>
      </p:sp>
      <p:sp>
        <p:nvSpPr>
          <p:cNvPr id="9" name="Rounded Rectangle 8"/>
          <p:cNvSpPr/>
          <p:nvPr/>
        </p:nvSpPr>
        <p:spPr>
          <a:xfrm>
            <a:off x="5943600" y="1463040"/>
            <a:ext cx="2743200" cy="4754880"/>
          </a:xfrm>
          <a:prstGeom prst="roundRect">
            <a:avLst/>
          </a:prstGeom>
          <a:solidFill>
            <a:srgbClr val="1A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1645920"/>
            <a:ext cx="2468880" cy="731520"/>
          </a:xfrm>
          <a:prstGeom prst="rect">
            <a:avLst/>
          </a:prstGeom>
          <a:noFill/>
        </p:spPr>
        <p:txBody>
          <a:bodyPr wrap="square">
            <a:spAutoFit/>
          </a:bodyPr>
          <a:lstStyle/>
          <a:p>
            <a:pPr algn="l">
              <a:defRPr sz="1600" b="1">
                <a:solidFill>
                  <a:srgbClr val="68D391"/>
                </a:solidFill>
              </a:defRPr>
            </a:pPr>
            <a:r>
              <a:t>Tier 3 — API / DPA</a:t>
            </a:r>
          </a:p>
        </p:txBody>
      </p:sp>
      <p:sp>
        <p:nvSpPr>
          <p:cNvPr id="11" name="TextBox 10"/>
          <p:cNvSpPr txBox="1"/>
          <p:nvPr/>
        </p:nvSpPr>
        <p:spPr>
          <a:xfrm>
            <a:off x="6080760" y="2560320"/>
            <a:ext cx="2468880" cy="3200400"/>
          </a:xfrm>
          <a:prstGeom prst="rect">
            <a:avLst/>
          </a:prstGeom>
          <a:noFill/>
        </p:spPr>
        <p:txBody>
          <a:bodyPr wrap="square">
            <a:spAutoFit/>
          </a:bodyPr>
          <a:lstStyle/>
          <a:p>
            <a:pPr algn="l">
              <a:defRPr sz="1400" b="0">
                <a:solidFill>
                  <a:srgbClr val="E2E8F0"/>
                </a:solidFill>
              </a:defRPr>
            </a:pPr>
            <a:r>
              <a:t>Bilateral contract. DPA. No training. The vendor is a data processor, not a controller.</a:t>
            </a:r>
          </a:p>
        </p:txBody>
      </p:sp>
      <p:sp>
        <p:nvSpPr>
          <p:cNvPr id="12" name="Rounded Rectangle 11"/>
          <p:cNvSpPr/>
          <p:nvPr/>
        </p:nvSpPr>
        <p:spPr>
          <a:xfrm>
            <a:off x="8686800" y="1463040"/>
            <a:ext cx="2743200" cy="4754880"/>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1645920"/>
            <a:ext cx="2468880" cy="731520"/>
          </a:xfrm>
          <a:prstGeom prst="rect">
            <a:avLst/>
          </a:prstGeom>
          <a:noFill/>
        </p:spPr>
        <p:txBody>
          <a:bodyPr wrap="square">
            <a:spAutoFit/>
          </a:bodyPr>
          <a:lstStyle/>
          <a:p>
            <a:pPr algn="l">
              <a:defRPr sz="1600" b="1">
                <a:solidFill>
                  <a:srgbClr val="63B3ED"/>
                </a:solidFill>
              </a:defRPr>
            </a:pPr>
            <a:r>
              <a:t>Tier 4 — Enterprise / ZDR</a:t>
            </a:r>
          </a:p>
        </p:txBody>
      </p:sp>
      <p:sp>
        <p:nvSpPr>
          <p:cNvPr id="14" name="TextBox 13"/>
          <p:cNvSpPr txBox="1"/>
          <p:nvPr/>
        </p:nvSpPr>
        <p:spPr>
          <a:xfrm>
            <a:off x="8823960" y="2560320"/>
            <a:ext cx="2468880" cy="3200400"/>
          </a:xfrm>
          <a:prstGeom prst="rect">
            <a:avLst/>
          </a:prstGeom>
          <a:noFill/>
        </p:spPr>
        <p:txBody>
          <a:bodyPr wrap="square">
            <a:spAutoFit/>
          </a:bodyPr>
          <a:lstStyle/>
          <a:p>
            <a:pPr algn="l">
              <a:defRPr sz="1400" b="0">
                <a:solidFill>
                  <a:srgbClr val="E2E8F0"/>
                </a:solidFill>
              </a:defRPr>
            </a:pPr>
            <a:r>
              <a:t>Your data never leaves your environment. M365 Copilot, Google Workspace Gemini. Zero data retention.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731520"/>
            <a:ext cx="10058400" cy="731520"/>
          </a:xfrm>
          <a:prstGeom prst="rect">
            <a:avLst/>
          </a:prstGeom>
          <a:noFill/>
        </p:spPr>
        <p:txBody>
          <a:bodyPr wrap="square">
            <a:spAutoFit/>
          </a:bodyPr>
          <a:lstStyle/>
          <a:p>
            <a:pPr algn="ctr">
              <a:defRPr sz="3600" b="1">
                <a:solidFill>
                  <a:srgbClr val="FFFFFF"/>
                </a:solidFill>
              </a:defRPr>
            </a:pPr>
            <a:r>
              <a:t>Two questions determine the risk</a:t>
            </a:r>
          </a:p>
        </p:txBody>
      </p:sp>
      <p:sp>
        <p:nvSpPr>
          <p:cNvPr id="3" name="TextBox 2"/>
          <p:cNvSpPr txBox="1"/>
          <p:nvPr/>
        </p:nvSpPr>
        <p:spPr>
          <a:xfrm>
            <a:off x="914400" y="1645920"/>
            <a:ext cx="10058400" cy="548640"/>
          </a:xfrm>
          <a:prstGeom prst="rect">
            <a:avLst/>
          </a:prstGeom>
          <a:noFill/>
        </p:spPr>
        <p:txBody>
          <a:bodyPr wrap="square">
            <a:spAutoFit/>
          </a:bodyPr>
          <a:lstStyle/>
          <a:p>
            <a:pPr algn="ctr">
              <a:defRPr sz="2200" b="0">
                <a:solidFill>
                  <a:srgbClr val="E2E8F0"/>
                </a:solidFill>
              </a:defRPr>
            </a:pPr>
            <a:r>
              <a:t>How sensitive is the data?  +  How protected is the tool?</a:t>
            </a:r>
          </a:p>
        </p:txBody>
      </p:sp>
      <p:sp>
        <p:nvSpPr>
          <p:cNvPr id="4" name="Rounded Rectangle 3"/>
          <p:cNvSpPr/>
          <p:nvPr/>
        </p:nvSpPr>
        <p:spPr>
          <a:xfrm>
            <a:off x="914400" y="2560320"/>
            <a:ext cx="5029200" cy="3200400"/>
          </a:xfrm>
          <a:prstGeom prst="roundRect">
            <a:avLst/>
          </a:prstGeom>
          <a:solidFill>
            <a:srgbClr val="1A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743200"/>
            <a:ext cx="4572000" cy="457200"/>
          </a:xfrm>
          <a:prstGeom prst="rect">
            <a:avLst/>
          </a:prstGeom>
          <a:noFill/>
        </p:spPr>
        <p:txBody>
          <a:bodyPr wrap="square">
            <a:spAutoFit/>
          </a:bodyPr>
          <a:lstStyle/>
          <a:p>
            <a:pPr algn="l">
              <a:defRPr sz="2000" b="1">
                <a:solidFill>
                  <a:srgbClr val="68D391"/>
                </a:solidFill>
              </a:defRPr>
            </a:pPr>
            <a:r>
              <a:t>Safe combinations</a:t>
            </a:r>
          </a:p>
        </p:txBody>
      </p:sp>
      <p:sp>
        <p:nvSpPr>
          <p:cNvPr id="6" name="TextBox 5"/>
          <p:cNvSpPr txBox="1"/>
          <p:nvPr/>
        </p:nvSpPr>
        <p:spPr>
          <a:xfrm>
            <a:off x="1097280" y="3383280"/>
            <a:ext cx="4572000" cy="2011680"/>
          </a:xfrm>
          <a:prstGeom prst="rect">
            <a:avLst/>
          </a:prstGeom>
          <a:noFill/>
        </p:spPr>
        <p:txBody>
          <a:bodyPr wrap="square">
            <a:spAutoFit/>
          </a:bodyPr>
          <a:lstStyle/>
          <a:p>
            <a:pPr algn="l">
              <a:defRPr sz="1600" b="0">
                <a:solidFill>
                  <a:srgbClr val="E2E8F0"/>
                </a:solidFill>
              </a:defRPr>
            </a:pPr>
            <a:r>
              <a:t>Low data + Any tier</a:t>
            </a:r>
            <a:br/>
            <a:r>
              <a:t>General legal research, public case law, statutory analysis. No client info. Use whatever tool you want.</a:t>
            </a:r>
          </a:p>
        </p:txBody>
      </p:sp>
      <p:sp>
        <p:nvSpPr>
          <p:cNvPr id="7" name="Rounded Rectangle 6"/>
          <p:cNvSpPr/>
          <p:nvPr/>
        </p:nvSpPr>
        <p:spPr>
          <a:xfrm>
            <a:off x="6400800" y="2560320"/>
            <a:ext cx="5029200" cy="3200400"/>
          </a:xfrm>
          <a:prstGeom prst="roundRect">
            <a:avLst/>
          </a:prstGeom>
          <a:solidFill>
            <a:srgbClr val="4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743200"/>
            <a:ext cx="4572000" cy="457200"/>
          </a:xfrm>
          <a:prstGeom prst="rect">
            <a:avLst/>
          </a:prstGeom>
          <a:noFill/>
        </p:spPr>
        <p:txBody>
          <a:bodyPr wrap="square">
            <a:spAutoFit/>
          </a:bodyPr>
          <a:lstStyle/>
          <a:p>
            <a:pPr algn="l">
              <a:defRPr sz="2000" b="1">
                <a:solidFill>
                  <a:srgbClr val="FC8181"/>
                </a:solidFill>
              </a:defRPr>
            </a:pPr>
            <a:r>
              <a:t>Dangerous combinations</a:t>
            </a:r>
          </a:p>
        </p:txBody>
      </p:sp>
      <p:sp>
        <p:nvSpPr>
          <p:cNvPr id="9" name="TextBox 8"/>
          <p:cNvSpPr txBox="1"/>
          <p:nvPr/>
        </p:nvSpPr>
        <p:spPr>
          <a:xfrm>
            <a:off x="6583680" y="3383280"/>
            <a:ext cx="4572000" cy="2011680"/>
          </a:xfrm>
          <a:prstGeom prst="rect">
            <a:avLst/>
          </a:prstGeom>
          <a:noFill/>
        </p:spPr>
        <p:txBody>
          <a:bodyPr wrap="square">
            <a:spAutoFit/>
          </a:bodyPr>
          <a:lstStyle/>
          <a:p>
            <a:pPr algn="l">
              <a:defRPr sz="1600" b="0">
                <a:solidFill>
                  <a:srgbClr val="E2E8F0"/>
                </a:solidFill>
              </a:defRPr>
            </a:pPr>
            <a:r>
              <a:t>High data + Tier 1 or 2</a:t>
            </a:r>
            <a:br/>
            <a:r>
              <a:t>Police reports, jail calls, client confessions, discovery in a consumer AI tool. Ethics violation.</a:t>
            </a:r>
          </a:p>
        </p:txBody>
      </p:sp>
      <p:sp>
        <p:nvSpPr>
          <p:cNvPr id="10" name="TextBox 9"/>
          <p:cNvSpPr txBox="1"/>
          <p:nvPr/>
        </p:nvSpPr>
        <p:spPr>
          <a:xfrm>
            <a:off x="914400" y="5943600"/>
            <a:ext cx="10058400" cy="548640"/>
          </a:xfrm>
          <a:prstGeom prst="rect">
            <a:avLst/>
          </a:prstGeom>
          <a:noFill/>
        </p:spPr>
        <p:txBody>
          <a:bodyPr wrap="square">
            <a:spAutoFit/>
          </a:bodyPr>
          <a:lstStyle/>
          <a:p>
            <a:pPr algn="ctr">
              <a:defRPr sz="1800" b="0">
                <a:solidFill>
                  <a:srgbClr val="A0AEC0"/>
                </a:solidFill>
              </a:defRPr>
            </a:pPr>
            <a:r>
              <a:t>Let's look at this on the website → Risk Matrix page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097280"/>
            <a:ext cx="10058400" cy="731520"/>
          </a:xfrm>
          <a:prstGeom prst="rect">
            <a:avLst/>
          </a:prstGeom>
          <a:noFill/>
        </p:spPr>
        <p:txBody>
          <a:bodyPr wrap="square">
            <a:spAutoFit/>
          </a:bodyPr>
          <a:lstStyle/>
          <a:p>
            <a:pPr algn="ctr">
              <a:defRPr sz="3600" b="1">
                <a:solidFill>
                  <a:srgbClr val="FFFFFF"/>
                </a:solidFill>
              </a:defRPr>
            </a:pPr>
            <a:r>
              <a:t>Demo: Risk Matrix</a:t>
            </a:r>
          </a:p>
        </p:txBody>
      </p:sp>
      <p:sp>
        <p:nvSpPr>
          <p:cNvPr id="3" name="TextBox 2"/>
          <p:cNvSpPr txBox="1"/>
          <p:nvPr/>
        </p:nvSpPr>
        <p:spPr>
          <a:xfrm>
            <a:off x="914400" y="2194560"/>
            <a:ext cx="10058400" cy="731520"/>
          </a:xfrm>
          <a:prstGeom prst="rect">
            <a:avLst/>
          </a:prstGeom>
          <a:noFill/>
        </p:spPr>
        <p:txBody>
          <a:bodyPr wrap="square">
            <a:spAutoFit/>
          </a:bodyPr>
          <a:lstStyle/>
          <a:p>
            <a:pPr algn="ctr">
              <a:defRPr sz="2200" b="0">
                <a:solidFill>
                  <a:srgbClr val="E2E8F0"/>
                </a:solidFill>
              </a:defRPr>
            </a:pPr>
            <a:r>
              <a:t>Open the Risk Matrix on the website.</a:t>
            </a:r>
          </a:p>
        </p:txBody>
      </p:sp>
      <p:sp>
        <p:nvSpPr>
          <p:cNvPr id="4" name="TextBox 3"/>
          <p:cNvSpPr txBox="1"/>
          <p:nvPr/>
        </p:nvSpPr>
        <p:spPr>
          <a:xfrm>
            <a:off x="1828800" y="3200400"/>
            <a:ext cx="8229600" cy="2286000"/>
          </a:xfrm>
          <a:prstGeom prst="rect">
            <a:avLst/>
          </a:prstGeom>
          <a:noFill/>
        </p:spPr>
        <p:txBody>
          <a:bodyPr wrap="square">
            <a:spAutoFit/>
          </a:bodyPr>
          <a:lstStyle/>
          <a:p>
            <a:pPr>
              <a:spcAft>
                <a:spcPts val="800"/>
              </a:spcAft>
              <a:defRPr sz="2000">
                <a:solidFill>
                  <a:srgbClr val="E2E8F0"/>
                </a:solidFill>
              </a:defRPr>
            </a:pPr>
            <a:r>
              <a:t>•  Click scenarios to see where they land</a:t>
            </a:r>
          </a:p>
          <a:p>
            <a:pPr>
              <a:spcAft>
                <a:spcPts val="800"/>
              </a:spcAft>
              <a:defRPr sz="2000">
                <a:solidFill>
                  <a:srgbClr val="E2E8F0"/>
                </a:solidFill>
              </a:defRPr>
            </a:pPr>
            <a:r>
              <a:t>•  "Check Your Scenario" at the bottom</a:t>
            </a:r>
          </a:p>
          <a:p>
            <a:pPr>
              <a:spcAft>
                <a:spcPts val="800"/>
              </a:spcAft>
              <a:defRPr sz="2000">
                <a:solidFill>
                  <a:srgbClr val="E2E8F0"/>
                </a:solidFill>
              </a:defRPr>
            </a:pPr>
            <a:r>
              <a:t>•  Try it on your phone right now</a:t>
            </a:r>
          </a:p>
        </p:txBody>
      </p:sp>
      <p:sp>
        <p:nvSpPr>
          <p:cNvPr id="5" name="TextBox 4"/>
          <p:cNvSpPr txBox="1"/>
          <p:nvPr/>
        </p:nvSpPr>
        <p:spPr>
          <a:xfrm>
            <a:off x="914400" y="5303520"/>
            <a:ext cx="10058400" cy="731520"/>
          </a:xfrm>
          <a:prstGeom prst="rect">
            <a:avLst/>
          </a:prstGeom>
          <a:noFill/>
        </p:spPr>
        <p:txBody>
          <a:bodyPr wrap="square">
            <a:spAutoFit/>
          </a:bodyPr>
          <a:lstStyle/>
          <a:p>
            <a:pPr algn="ctr">
              <a:defRPr sz="1800" b="1">
                <a:solidFill>
                  <a:srgbClr val="FAF089"/>
                </a:solidFill>
              </a:defRPr>
            </a:pPr>
            <a:r>
              <a:t>Audience: Pick your most common task. Where does it fall on the matrix?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ounded Rectangle 1"/>
          <p:cNvSpPr/>
          <p:nvPr/>
        </p:nvSpPr>
        <p:spPr>
          <a:xfrm>
            <a:off x="914400" y="1097280"/>
            <a:ext cx="10332720" cy="36576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418320" cy="2926080"/>
          </a:xfrm>
          <a:prstGeom prst="rect">
            <a:avLst/>
          </a:prstGeom>
          <a:noFill/>
        </p:spPr>
        <p:txBody>
          <a:bodyPr wrap="square">
            <a:spAutoFit/>
          </a:bodyPr>
          <a:lstStyle/>
          <a:p>
            <a:pPr algn="l">
              <a:defRPr sz="2000" b="0">
                <a:solidFill>
                  <a:srgbClr val="FFFFFF"/>
                </a:solidFill>
              </a:defRPr>
            </a:pPr>
            <a:r>
              <a:t>"Lawyers must assess the terms and conditions of using a generative AI platform or service to understand the security of the information being inputted, how that information is being used by the platform or service, and what data sources the platform or service is using."</a:t>
            </a:r>
          </a:p>
        </p:txBody>
      </p:sp>
      <p:sp>
        <p:nvSpPr>
          <p:cNvPr id="4" name="TextBox 3"/>
          <p:cNvSpPr txBox="1"/>
          <p:nvPr/>
        </p:nvSpPr>
        <p:spPr>
          <a:xfrm>
            <a:off x="1371600" y="4114800"/>
            <a:ext cx="9144000" cy="548640"/>
          </a:xfrm>
          <a:prstGeom prst="rect">
            <a:avLst/>
          </a:prstGeom>
          <a:noFill/>
        </p:spPr>
        <p:txBody>
          <a:bodyPr wrap="square">
            <a:spAutoFit/>
          </a:bodyPr>
          <a:lstStyle/>
          <a:p>
            <a:pPr algn="l">
              <a:defRPr sz="1600" b="1">
                <a:solidFill>
                  <a:srgbClr val="A0AEC0"/>
                </a:solidFill>
              </a:defRPr>
            </a:pPr>
            <a:r>
              <a:t>— Missouri Informal Opinion 2024-11 (April 2024)</a:t>
            </a:r>
          </a:p>
        </p:txBody>
      </p:sp>
      <p:sp>
        <p:nvSpPr>
          <p:cNvPr id="5" name="TextBox 4"/>
          <p:cNvSpPr txBox="1"/>
          <p:nvPr/>
        </p:nvSpPr>
        <p:spPr>
          <a:xfrm>
            <a:off x="914400" y="5303520"/>
            <a:ext cx="10058400" cy="731520"/>
          </a:xfrm>
          <a:prstGeom prst="rect">
            <a:avLst/>
          </a:prstGeom>
          <a:noFill/>
        </p:spPr>
        <p:txBody>
          <a:bodyPr wrap="square">
            <a:spAutoFit/>
          </a:bodyPr>
          <a:lstStyle/>
          <a:p>
            <a:pPr algn="ctr">
              <a:defRPr sz="2200" b="0">
                <a:solidFill>
                  <a:srgbClr val="FAF089"/>
                </a:solidFill>
              </a:defRPr>
            </a:pPr>
            <a:r>
              <a:t>This is what the risk matrix operationalizes.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914400"/>
            <a:ext cx="10058400" cy="914400"/>
          </a:xfrm>
          <a:prstGeom prst="rect">
            <a:avLst/>
          </a:prstGeom>
          <a:noFill/>
        </p:spPr>
        <p:txBody>
          <a:bodyPr wrap="square">
            <a:spAutoFit/>
          </a:bodyPr>
          <a:lstStyle/>
          <a:p>
            <a:pPr algn="ctr">
              <a:defRPr sz="3600" b="1">
                <a:solidFill>
                  <a:srgbClr val="FC8181"/>
                </a:solidFill>
              </a:defRPr>
            </a:pPr>
            <a:r>
              <a:t>Your AI conversations are not privileged</a:t>
            </a:r>
          </a:p>
        </p:txBody>
      </p:sp>
      <p:sp>
        <p:nvSpPr>
          <p:cNvPr id="3" name="TextBox 2"/>
          <p:cNvSpPr txBox="1"/>
          <p:nvPr/>
        </p:nvSpPr>
        <p:spPr>
          <a:xfrm>
            <a:off x="914400" y="2011680"/>
            <a:ext cx="10058400" cy="548640"/>
          </a:xfrm>
          <a:prstGeom prst="rect">
            <a:avLst/>
          </a:prstGeom>
          <a:noFill/>
        </p:spPr>
        <p:txBody>
          <a:bodyPr wrap="square">
            <a:spAutoFit/>
          </a:bodyPr>
          <a:lstStyle/>
          <a:p>
            <a:pPr algn="ctr">
              <a:defRPr sz="2000" b="0">
                <a:solidFill>
                  <a:srgbClr val="A0AEC0"/>
                </a:solidFill>
              </a:defRPr>
            </a:pPr>
            <a:r>
              <a:t>United States v. Heppner (S.D.N.Y. Feb. 2026)</a:t>
            </a:r>
          </a:p>
        </p:txBody>
      </p:sp>
      <p:sp>
        <p:nvSpPr>
          <p:cNvPr id="4" name="TextBox 3"/>
          <p:cNvSpPr txBox="1"/>
          <p:nvPr/>
        </p:nvSpPr>
        <p:spPr>
          <a:xfrm>
            <a:off x="1371600" y="2926080"/>
            <a:ext cx="9144000" cy="914400"/>
          </a:xfrm>
          <a:prstGeom prst="rect">
            <a:avLst/>
          </a:prstGeom>
          <a:noFill/>
        </p:spPr>
        <p:txBody>
          <a:bodyPr wrap="square">
            <a:spAutoFit/>
          </a:bodyPr>
          <a:lstStyle/>
          <a:p>
            <a:pPr algn="ctr">
              <a:defRPr sz="2200" b="0">
                <a:solidFill>
                  <a:srgbClr val="E2E8F0"/>
                </a:solidFill>
              </a:defRPr>
            </a:pPr>
            <a:r>
              <a:t>"Simply no reasonable expectation of confidentiality" under consumer Terms of Service.</a:t>
            </a:r>
          </a:p>
        </p:txBody>
      </p:sp>
      <p:sp>
        <p:nvSpPr>
          <p:cNvPr id="5" name="Rounded Rectangle 4"/>
          <p:cNvSpPr/>
          <p:nvPr/>
        </p:nvSpPr>
        <p:spPr>
          <a:xfrm>
            <a:off x="1828800" y="4114800"/>
            <a:ext cx="8503920" cy="201168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3120" y="4297680"/>
            <a:ext cx="7955279" cy="457200"/>
          </a:xfrm>
          <a:prstGeom prst="rect">
            <a:avLst/>
          </a:prstGeom>
          <a:noFill/>
        </p:spPr>
        <p:txBody>
          <a:bodyPr wrap="square">
            <a:spAutoFit/>
          </a:bodyPr>
          <a:lstStyle/>
          <a:p>
            <a:pPr algn="l">
              <a:defRPr sz="1800" b="1">
                <a:solidFill>
                  <a:srgbClr val="FFFFFF"/>
                </a:solidFill>
              </a:defRPr>
            </a:pPr>
            <a:r>
              <a:t>What this means</a:t>
            </a:r>
          </a:p>
        </p:txBody>
      </p:sp>
      <p:sp>
        <p:nvSpPr>
          <p:cNvPr id="7" name="TextBox 6"/>
          <p:cNvSpPr txBox="1"/>
          <p:nvPr/>
        </p:nvSpPr>
        <p:spPr>
          <a:xfrm>
            <a:off x="2103120" y="4846320"/>
            <a:ext cx="7955279" cy="1097280"/>
          </a:xfrm>
          <a:prstGeom prst="rect">
            <a:avLst/>
          </a:prstGeom>
          <a:noFill/>
        </p:spPr>
        <p:txBody>
          <a:bodyPr wrap="square">
            <a:spAutoFit/>
          </a:bodyPr>
          <a:lstStyle/>
          <a:p>
            <a:pPr algn="l">
              <a:defRPr sz="1600" b="0">
                <a:solidFill>
                  <a:srgbClr val="E2E8F0"/>
                </a:solidFill>
              </a:defRPr>
            </a:pPr>
            <a:r>
              <a:t>Consumer AI chat logs (Tier 1-2) are discoverable. Not privileged. Not work product. Enterprise/API tiers (Tier 3-4) were explicitly distinguished.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731520"/>
            <a:ext cx="10058400" cy="731520"/>
          </a:xfrm>
          <a:prstGeom prst="rect">
            <a:avLst/>
          </a:prstGeom>
          <a:noFill/>
        </p:spPr>
        <p:txBody>
          <a:bodyPr wrap="square">
            <a:spAutoFit/>
          </a:bodyPr>
          <a:lstStyle/>
          <a:p>
            <a:pPr algn="ctr">
              <a:defRPr sz="3600" b="1">
                <a:solidFill>
                  <a:srgbClr val="FC8181"/>
                </a:solidFill>
              </a:defRPr>
            </a:pPr>
            <a:r>
              <a:t>The feedback trap</a:t>
            </a:r>
          </a:p>
        </p:txBody>
      </p:sp>
      <p:sp>
        <p:nvSpPr>
          <p:cNvPr id="3" name="TextBox 2"/>
          <p:cNvSpPr txBox="1"/>
          <p:nvPr/>
        </p:nvSpPr>
        <p:spPr>
          <a:xfrm>
            <a:off x="1371600" y="1645920"/>
            <a:ext cx="9144000" cy="1097280"/>
          </a:xfrm>
          <a:prstGeom prst="rect">
            <a:avLst/>
          </a:prstGeom>
          <a:noFill/>
        </p:spPr>
        <p:txBody>
          <a:bodyPr wrap="square">
            <a:spAutoFit/>
          </a:bodyPr>
          <a:lstStyle/>
          <a:p>
            <a:pPr algn="ctr">
              <a:defRPr sz="2000" b="0">
                <a:solidFill>
                  <a:srgbClr val="E2E8F0"/>
                </a:solidFill>
              </a:defRPr>
            </a:pPr>
            <a:r>
              <a:t>When you click thumbs up or thumbs down on an AI response, you give the vendor that entire conversation for training — even if you've opted out of general training.</a:t>
            </a:r>
          </a:p>
        </p:txBody>
      </p:sp>
      <p:sp>
        <p:nvSpPr>
          <p:cNvPr id="4" name="Rounded Rectangle 3"/>
          <p:cNvSpPr/>
          <p:nvPr/>
        </p:nvSpPr>
        <p:spPr>
          <a:xfrm>
            <a:off x="914400" y="3200400"/>
            <a:ext cx="5029200" cy="2560320"/>
          </a:xfrm>
          <a:prstGeom prst="roundRect">
            <a:avLst/>
          </a:prstGeom>
          <a:solidFill>
            <a:srgbClr val="4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3383280"/>
            <a:ext cx="4572000" cy="457200"/>
          </a:xfrm>
          <a:prstGeom prst="rect">
            <a:avLst/>
          </a:prstGeom>
          <a:noFill/>
        </p:spPr>
        <p:txBody>
          <a:bodyPr wrap="square">
            <a:spAutoFit/>
          </a:bodyPr>
          <a:lstStyle/>
          <a:p>
            <a:pPr algn="l">
              <a:defRPr sz="1800" b="1">
                <a:solidFill>
                  <a:srgbClr val="FC8181"/>
                </a:solidFill>
              </a:defRPr>
            </a:pPr>
            <a:r>
              <a:t>The problem</a:t>
            </a:r>
          </a:p>
        </p:txBody>
      </p:sp>
      <p:sp>
        <p:nvSpPr>
          <p:cNvPr id="6" name="TextBox 5"/>
          <p:cNvSpPr txBox="1"/>
          <p:nvPr/>
        </p:nvSpPr>
        <p:spPr>
          <a:xfrm>
            <a:off x="1097280" y="4023360"/>
            <a:ext cx="4572000" cy="1371600"/>
          </a:xfrm>
          <a:prstGeom prst="rect">
            <a:avLst/>
          </a:prstGeom>
          <a:noFill/>
        </p:spPr>
        <p:txBody>
          <a:bodyPr wrap="square">
            <a:spAutoFit/>
          </a:bodyPr>
          <a:lstStyle/>
          <a:p>
            <a:pPr algn="l">
              <a:defRPr sz="1500" b="0">
                <a:solidFill>
                  <a:srgbClr val="E2E8F0"/>
                </a:solidFill>
              </a:defRPr>
            </a:pPr>
            <a:r>
              <a:t>OpenAI, Anthropic, and Google all retain feedback-associated conversations for up to 5 years. This is not opt-outable.</a:t>
            </a:r>
          </a:p>
        </p:txBody>
      </p:sp>
      <p:sp>
        <p:nvSpPr>
          <p:cNvPr id="7" name="Rounded Rectangle 6"/>
          <p:cNvSpPr/>
          <p:nvPr/>
        </p:nvSpPr>
        <p:spPr>
          <a:xfrm>
            <a:off x="6400800" y="3200400"/>
            <a:ext cx="5029200" cy="2560320"/>
          </a:xfrm>
          <a:prstGeom prst="roundRect">
            <a:avLst/>
          </a:prstGeom>
          <a:solidFill>
            <a:srgbClr val="1A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3383280"/>
            <a:ext cx="4572000" cy="457200"/>
          </a:xfrm>
          <a:prstGeom prst="rect">
            <a:avLst/>
          </a:prstGeom>
          <a:noFill/>
        </p:spPr>
        <p:txBody>
          <a:bodyPr wrap="square">
            <a:spAutoFit/>
          </a:bodyPr>
          <a:lstStyle/>
          <a:p>
            <a:pPr algn="l">
              <a:defRPr sz="1800" b="1">
                <a:solidFill>
                  <a:srgbClr val="68D391"/>
                </a:solidFill>
              </a:defRPr>
            </a:pPr>
            <a:r>
              <a:t>The rule</a:t>
            </a:r>
          </a:p>
        </p:txBody>
      </p:sp>
      <p:sp>
        <p:nvSpPr>
          <p:cNvPr id="9" name="TextBox 8"/>
          <p:cNvSpPr txBox="1"/>
          <p:nvPr/>
        </p:nvSpPr>
        <p:spPr>
          <a:xfrm>
            <a:off x="6583680" y="4023360"/>
            <a:ext cx="4572000" cy="1371600"/>
          </a:xfrm>
          <a:prstGeom prst="rect">
            <a:avLst/>
          </a:prstGeom>
          <a:noFill/>
        </p:spPr>
        <p:txBody>
          <a:bodyPr wrap="square">
            <a:spAutoFit/>
          </a:bodyPr>
          <a:lstStyle/>
          <a:p>
            <a:pPr algn="l">
              <a:defRPr sz="1500" b="0">
                <a:solidFill>
                  <a:srgbClr val="E2E8F0"/>
                </a:solidFill>
              </a:defRPr>
            </a:pPr>
            <a:r>
              <a:t>Never provide feedback on any conversation that contains client information. The thumbs up/down button is a consent button.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731520"/>
            <a:ext cx="10058400" cy="731520"/>
          </a:xfrm>
          <a:prstGeom prst="rect">
            <a:avLst/>
          </a:prstGeom>
          <a:noFill/>
        </p:spPr>
        <p:txBody>
          <a:bodyPr wrap="square">
            <a:spAutoFit/>
          </a:bodyPr>
          <a:lstStyle/>
          <a:p>
            <a:pPr algn="ctr">
              <a:defRPr sz="3600" b="1">
                <a:solidFill>
                  <a:srgbClr val="FFFFFF"/>
                </a:solidFill>
              </a:defRPr>
            </a:pPr>
            <a:r>
              <a:t>Same tool, different tier</a:t>
            </a:r>
          </a:p>
        </p:txBody>
      </p:sp>
      <p:sp>
        <p:nvSpPr>
          <p:cNvPr id="3" name="TextBox 2"/>
          <p:cNvSpPr txBox="1"/>
          <p:nvPr/>
        </p:nvSpPr>
        <p:spPr>
          <a:xfrm>
            <a:off x="914400" y="1645920"/>
            <a:ext cx="10058400" cy="548640"/>
          </a:xfrm>
          <a:prstGeom prst="rect">
            <a:avLst/>
          </a:prstGeom>
          <a:noFill/>
        </p:spPr>
        <p:txBody>
          <a:bodyPr wrap="square">
            <a:spAutoFit/>
          </a:bodyPr>
          <a:lstStyle/>
          <a:p>
            <a:pPr algn="ctr">
              <a:defRPr sz="2200" b="0">
                <a:solidFill>
                  <a:srgbClr val="E2E8F0"/>
                </a:solidFill>
              </a:defRPr>
            </a:pPr>
            <a:r>
              <a:t>The plan matters more than the product.</a:t>
            </a:r>
          </a:p>
        </p:txBody>
      </p:sp>
      <p:sp>
        <p:nvSpPr>
          <p:cNvPr id="4" name="Rounded Rectangle 3"/>
          <p:cNvSpPr/>
          <p:nvPr/>
        </p:nvSpPr>
        <p:spPr>
          <a:xfrm>
            <a:off x="914400" y="2560320"/>
            <a:ext cx="5029200" cy="3200400"/>
          </a:xfrm>
          <a:prstGeom prst="roundRect">
            <a:avLst/>
          </a:prstGeom>
          <a:solidFill>
            <a:srgbClr val="4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743200"/>
            <a:ext cx="4572000" cy="457200"/>
          </a:xfrm>
          <a:prstGeom prst="rect">
            <a:avLst/>
          </a:prstGeom>
          <a:noFill/>
        </p:spPr>
        <p:txBody>
          <a:bodyPr wrap="square">
            <a:spAutoFit/>
          </a:bodyPr>
          <a:lstStyle/>
          <a:p>
            <a:pPr algn="l">
              <a:defRPr sz="1800" b="1">
                <a:solidFill>
                  <a:srgbClr val="FC8181"/>
                </a:solidFill>
              </a:defRPr>
            </a:pPr>
            <a:r>
              <a:t>Microsoft Copilot (Free)</a:t>
            </a:r>
          </a:p>
        </p:txBody>
      </p:sp>
      <p:sp>
        <p:nvSpPr>
          <p:cNvPr id="6" name="TextBox 5"/>
          <p:cNvSpPr txBox="1"/>
          <p:nvPr/>
        </p:nvSpPr>
        <p:spPr>
          <a:xfrm>
            <a:off x="1097280" y="3383280"/>
            <a:ext cx="4572000" cy="2011680"/>
          </a:xfrm>
          <a:prstGeom prst="rect">
            <a:avLst/>
          </a:prstGeom>
          <a:noFill/>
        </p:spPr>
        <p:txBody>
          <a:bodyPr wrap="square">
            <a:spAutoFit/>
          </a:bodyPr>
          <a:lstStyle/>
          <a:p>
            <a:pPr algn="l">
              <a:defRPr sz="1500" b="0">
                <a:solidFill>
                  <a:srgbClr val="E2E8F0"/>
                </a:solidFill>
              </a:defRPr>
            </a:pPr>
            <a:r>
              <a:t>Tier 1. Consumer. Trains on data. Uses conversations for ad targeting. Opting out of training does NOT opt out of ads.</a:t>
            </a:r>
          </a:p>
        </p:txBody>
      </p:sp>
      <p:sp>
        <p:nvSpPr>
          <p:cNvPr id="7" name="Rounded Rectangle 6"/>
          <p:cNvSpPr/>
          <p:nvPr/>
        </p:nvSpPr>
        <p:spPr>
          <a:xfrm>
            <a:off x="6400800" y="2560320"/>
            <a:ext cx="5029200" cy="3200400"/>
          </a:xfrm>
          <a:prstGeom prst="roundRect">
            <a:avLst/>
          </a:prstGeom>
          <a:solidFill>
            <a:srgbClr val="1A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743200"/>
            <a:ext cx="4572000" cy="457200"/>
          </a:xfrm>
          <a:prstGeom prst="rect">
            <a:avLst/>
          </a:prstGeom>
          <a:noFill/>
        </p:spPr>
        <p:txBody>
          <a:bodyPr wrap="square">
            <a:spAutoFit/>
          </a:bodyPr>
          <a:lstStyle/>
          <a:p>
            <a:pPr algn="l">
              <a:defRPr sz="1800" b="1">
                <a:solidFill>
                  <a:srgbClr val="68D391"/>
                </a:solidFill>
              </a:defRPr>
            </a:pPr>
            <a:r>
              <a:t>M365 Copilot ($30/user/mo)</a:t>
            </a:r>
          </a:p>
        </p:txBody>
      </p:sp>
      <p:sp>
        <p:nvSpPr>
          <p:cNvPr id="9" name="TextBox 8"/>
          <p:cNvSpPr txBox="1"/>
          <p:nvPr/>
        </p:nvSpPr>
        <p:spPr>
          <a:xfrm>
            <a:off x="6583680" y="3383280"/>
            <a:ext cx="4572000" cy="2011680"/>
          </a:xfrm>
          <a:prstGeom prst="rect">
            <a:avLst/>
          </a:prstGeom>
          <a:noFill/>
        </p:spPr>
        <p:txBody>
          <a:bodyPr wrap="square">
            <a:spAutoFit/>
          </a:bodyPr>
          <a:lstStyle/>
          <a:p>
            <a:pPr algn="l">
              <a:defRPr sz="1500" b="0">
                <a:solidFill>
                  <a:srgbClr val="E2E8F0"/>
                </a:solidFill>
              </a:defRPr>
            </a:pPr>
            <a:r>
              <a:t>Tier 4. Enterprise. No training. No ads. Data stays in your tenant. DPA. Same AI. Completely different legal framework.</a:t>
            </a:r>
          </a:p>
        </p:txBody>
      </p:sp>
      <p:sp>
        <p:nvSpPr>
          <p:cNvPr id="10" name="TextBox 9"/>
          <p:cNvSpPr txBox="1"/>
          <p:nvPr/>
        </p:nvSpPr>
        <p:spPr>
          <a:xfrm>
            <a:off x="914400" y="5943600"/>
            <a:ext cx="10058400" cy="548640"/>
          </a:xfrm>
          <a:prstGeom prst="rect">
            <a:avLst/>
          </a:prstGeom>
          <a:noFill/>
        </p:spPr>
        <p:txBody>
          <a:bodyPr wrap="square">
            <a:spAutoFit/>
          </a:bodyPr>
          <a:lstStyle/>
          <a:p>
            <a:pPr algn="ctr">
              <a:defRPr sz="1600" b="0">
                <a:solidFill>
                  <a:srgbClr val="A0AEC0"/>
                </a:solidFill>
              </a:defRPr>
            </a:pPr>
            <a:r>
              <a:t>This applies to Google, Claude, and every other vendor. Details on Vendor Details page.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097280"/>
            <a:ext cx="10058400" cy="731520"/>
          </a:xfrm>
          <a:prstGeom prst="rect">
            <a:avLst/>
          </a:prstGeom>
          <a:noFill/>
        </p:spPr>
        <p:txBody>
          <a:bodyPr wrap="square">
            <a:spAutoFit/>
          </a:bodyPr>
          <a:lstStyle/>
          <a:p>
            <a:pPr algn="ctr">
              <a:defRPr sz="3600" b="1">
                <a:solidFill>
                  <a:srgbClr val="FFFFFF"/>
                </a:solidFill>
              </a:defRPr>
            </a:pPr>
            <a:r>
              <a:t>Practical demos</a:t>
            </a:r>
          </a:p>
        </p:txBody>
      </p:sp>
      <p:sp>
        <p:nvSpPr>
          <p:cNvPr id="3" name="TextBox 2"/>
          <p:cNvSpPr txBox="1"/>
          <p:nvPr/>
        </p:nvSpPr>
        <p:spPr>
          <a:xfrm>
            <a:off x="914400" y="2194560"/>
            <a:ext cx="10058400" cy="731520"/>
          </a:xfrm>
          <a:prstGeom prst="rect">
            <a:avLst/>
          </a:prstGeom>
          <a:noFill/>
        </p:spPr>
        <p:txBody>
          <a:bodyPr wrap="square">
            <a:spAutoFit/>
          </a:bodyPr>
          <a:lstStyle/>
          <a:p>
            <a:pPr algn="ctr">
              <a:defRPr sz="2200" b="0">
                <a:solidFill>
                  <a:srgbClr val="E2E8F0"/>
                </a:solidFill>
              </a:defRPr>
            </a:pPr>
            <a:r>
              <a:t>Let's do real work with real tools at the right tier.</a:t>
            </a:r>
          </a:p>
        </p:txBody>
      </p:sp>
      <p:sp>
        <p:nvSpPr>
          <p:cNvPr id="4" name="TextBox 3"/>
          <p:cNvSpPr txBox="1"/>
          <p:nvPr/>
        </p:nvSpPr>
        <p:spPr>
          <a:xfrm>
            <a:off x="1828800" y="3200400"/>
            <a:ext cx="8229600" cy="2743200"/>
          </a:xfrm>
          <a:prstGeom prst="rect">
            <a:avLst/>
          </a:prstGeom>
          <a:noFill/>
        </p:spPr>
        <p:txBody>
          <a:bodyPr wrap="square">
            <a:spAutoFit/>
          </a:bodyPr>
          <a:lstStyle/>
          <a:p>
            <a:pPr>
              <a:spcAft>
                <a:spcPts val="800"/>
              </a:spcAft>
              <a:defRPr sz="2000">
                <a:solidFill>
                  <a:srgbClr val="E2E8F0"/>
                </a:solidFill>
              </a:defRPr>
            </a:pPr>
            <a:r>
              <a:t>•  Research: Constitutional issue + metaprompting</a:t>
            </a:r>
          </a:p>
          <a:p>
            <a:pPr>
              <a:spcAft>
                <a:spcPts val="800"/>
              </a:spcAft>
              <a:defRPr sz="2000">
                <a:solidFill>
                  <a:srgbClr val="E2E8F0"/>
                </a:solidFill>
              </a:defRPr>
            </a:pPr>
            <a:r>
              <a:t>•  Document analysis: Police report summarization</a:t>
            </a:r>
          </a:p>
          <a:p>
            <a:pPr>
              <a:spcAft>
                <a:spcPts val="800"/>
              </a:spcAft>
              <a:defRPr sz="2000">
                <a:solidFill>
                  <a:srgbClr val="E2E8F0"/>
                </a:solidFill>
              </a:defRPr>
            </a:pPr>
            <a:r>
              <a:t>•  Drafting: Two-stage motion to suppress</a:t>
            </a:r>
          </a:p>
          <a:p>
            <a:pPr>
              <a:spcAft>
                <a:spcPts val="800"/>
              </a:spcAft>
              <a:defRPr sz="2000">
                <a:solidFill>
                  <a:srgbClr val="E2E8F0"/>
                </a:solidFill>
              </a:defRPr>
            </a:pPr>
            <a:r>
              <a:t>•  Transcription: Jail calls and BWC footage</a:t>
            </a:r>
          </a:p>
          <a:p>
            <a:pPr>
              <a:spcAft>
                <a:spcPts val="800"/>
              </a:spcAft>
              <a:defRPr sz="2000">
                <a:solidFill>
                  <a:srgbClr val="E2E8F0"/>
                </a:solidFill>
              </a:defRPr>
            </a:pPr>
            <a:r>
              <a:t>•  Style guide: Build one from writing you admire</a:t>
            </a:r>
          </a:p>
        </p:txBody>
      </p:sp>
      <p:sp>
        <p:nvSpPr>
          <p:cNvPr id="5" name="TextBox 4"/>
          <p:cNvSpPr txBox="1"/>
          <p:nvPr/>
        </p:nvSpPr>
        <p:spPr>
          <a:xfrm>
            <a:off x="914400" y="5943600"/>
            <a:ext cx="10058400" cy="548640"/>
          </a:xfrm>
          <a:prstGeom prst="rect">
            <a:avLst/>
          </a:prstGeom>
          <a:noFill/>
        </p:spPr>
        <p:txBody>
          <a:bodyPr wrap="square">
            <a:spAutoFit/>
          </a:bodyPr>
          <a:lstStyle/>
          <a:p>
            <a:pPr algn="ctr">
              <a:defRPr sz="1600" b="0">
                <a:solidFill>
                  <a:srgbClr val="A0AEC0"/>
                </a:solidFill>
              </a:defRPr>
            </a:pPr>
            <a:r>
              <a:t>Walkthroughs for each: Use Cases page on the website.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731520"/>
            <a:ext cx="10058400" cy="731520"/>
          </a:xfrm>
          <a:prstGeom prst="rect">
            <a:avLst/>
          </a:prstGeom>
          <a:noFill/>
        </p:spPr>
        <p:txBody>
          <a:bodyPr wrap="square">
            <a:spAutoFit/>
          </a:bodyPr>
          <a:lstStyle/>
          <a:p>
            <a:pPr algn="ctr">
              <a:defRPr sz="3600" b="1">
                <a:solidFill>
                  <a:srgbClr val="FFFFFF"/>
                </a:solidFill>
              </a:defRPr>
            </a:pPr>
            <a:r>
              <a:t>Demo: Research with metaprompting</a:t>
            </a:r>
          </a:p>
        </p:txBody>
      </p:sp>
      <p:sp>
        <p:nvSpPr>
          <p:cNvPr id="3" name="TextBox 2"/>
          <p:cNvSpPr txBox="1"/>
          <p:nvPr/>
        </p:nvSpPr>
        <p:spPr>
          <a:xfrm>
            <a:off x="914400" y="1645920"/>
            <a:ext cx="10058400" cy="548640"/>
          </a:xfrm>
          <a:prstGeom prst="rect">
            <a:avLst/>
          </a:prstGeom>
          <a:noFill/>
        </p:spPr>
        <p:txBody>
          <a:bodyPr wrap="square">
            <a:spAutoFit/>
          </a:bodyPr>
          <a:lstStyle/>
          <a:p>
            <a:pPr algn="ctr">
              <a:defRPr sz="2200" b="0">
                <a:solidFill>
                  <a:srgbClr val="E2E8F0"/>
                </a:solidFill>
              </a:defRPr>
            </a:pPr>
            <a:r>
              <a:t>Instead of asking the question — ask AI to write the question.</a:t>
            </a:r>
          </a:p>
        </p:txBody>
      </p:sp>
      <p:sp>
        <p:nvSpPr>
          <p:cNvPr id="4" name="Rounded Rectangle 3"/>
          <p:cNvSpPr/>
          <p:nvPr/>
        </p:nvSpPr>
        <p:spPr>
          <a:xfrm>
            <a:off x="914400" y="2560320"/>
            <a:ext cx="5029200" cy="2743200"/>
          </a:xfrm>
          <a:prstGeom prst="roundRect">
            <a:avLst/>
          </a:prstGeom>
          <a:solidFill>
            <a:srgbClr val="4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743200"/>
            <a:ext cx="4572000" cy="457200"/>
          </a:xfrm>
          <a:prstGeom prst="rect">
            <a:avLst/>
          </a:prstGeom>
          <a:noFill/>
        </p:spPr>
        <p:txBody>
          <a:bodyPr wrap="square">
            <a:spAutoFit/>
          </a:bodyPr>
          <a:lstStyle/>
          <a:p>
            <a:pPr algn="l">
              <a:defRPr sz="1800" b="1">
                <a:solidFill>
                  <a:srgbClr val="FC8181"/>
                </a:solidFill>
              </a:defRPr>
            </a:pPr>
            <a:r>
              <a:t>Naive prompt</a:t>
            </a:r>
          </a:p>
        </p:txBody>
      </p:sp>
      <p:sp>
        <p:nvSpPr>
          <p:cNvPr id="6" name="TextBox 5"/>
          <p:cNvSpPr txBox="1"/>
          <p:nvPr/>
        </p:nvSpPr>
        <p:spPr>
          <a:xfrm>
            <a:off x="1097280" y="3383280"/>
            <a:ext cx="4572000" cy="1645920"/>
          </a:xfrm>
          <a:prstGeom prst="rect">
            <a:avLst/>
          </a:prstGeom>
          <a:noFill/>
        </p:spPr>
        <p:txBody>
          <a:bodyPr wrap="square">
            <a:spAutoFit/>
          </a:bodyPr>
          <a:lstStyle/>
          <a:p>
            <a:pPr algn="l">
              <a:defRPr sz="1600" b="0">
                <a:solidFill>
                  <a:srgbClr val="E2E8F0"/>
                </a:solidFill>
              </a:defRPr>
            </a:pPr>
            <a:r>
              <a:t>"Tell me about Fourth Amendment vehicle searches."</a:t>
            </a:r>
          </a:p>
        </p:txBody>
      </p:sp>
      <p:sp>
        <p:nvSpPr>
          <p:cNvPr id="7" name="Rounded Rectangle 6"/>
          <p:cNvSpPr/>
          <p:nvPr/>
        </p:nvSpPr>
        <p:spPr>
          <a:xfrm>
            <a:off x="6400800" y="2560320"/>
            <a:ext cx="5029200" cy="2743200"/>
          </a:xfrm>
          <a:prstGeom prst="roundRect">
            <a:avLst/>
          </a:prstGeom>
          <a:solidFill>
            <a:srgbClr val="1A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2743200"/>
            <a:ext cx="4572000" cy="457200"/>
          </a:xfrm>
          <a:prstGeom prst="rect">
            <a:avLst/>
          </a:prstGeom>
          <a:noFill/>
        </p:spPr>
        <p:txBody>
          <a:bodyPr wrap="square">
            <a:spAutoFit/>
          </a:bodyPr>
          <a:lstStyle/>
          <a:p>
            <a:pPr algn="l">
              <a:defRPr sz="1800" b="1">
                <a:solidFill>
                  <a:srgbClr val="68D391"/>
                </a:solidFill>
              </a:defRPr>
            </a:pPr>
            <a:r>
              <a:t>Metaprompted</a:t>
            </a:r>
          </a:p>
        </p:txBody>
      </p:sp>
      <p:sp>
        <p:nvSpPr>
          <p:cNvPr id="9" name="TextBox 8"/>
          <p:cNvSpPr txBox="1"/>
          <p:nvPr/>
        </p:nvSpPr>
        <p:spPr>
          <a:xfrm>
            <a:off x="6583680" y="3383280"/>
            <a:ext cx="4572000" cy="1645920"/>
          </a:xfrm>
          <a:prstGeom prst="rect">
            <a:avLst/>
          </a:prstGeom>
          <a:noFill/>
        </p:spPr>
        <p:txBody>
          <a:bodyPr wrap="square">
            <a:spAutoFit/>
          </a:bodyPr>
          <a:lstStyle/>
          <a:p>
            <a:pPr algn="l">
              <a:defRPr sz="1600" b="0">
                <a:solidFill>
                  <a:srgbClr val="E2E8F0"/>
                </a:solidFill>
              </a:defRPr>
            </a:pPr>
            <a:r>
              <a:t>"Write me a detailed research prompt covering automobile exception, inventory search, SIA post-Gant, consent, K-9 post-Rodriguez. 8th Circuit + Missouri."</a:t>
            </a:r>
          </a:p>
        </p:txBody>
      </p:sp>
      <p:sp>
        <p:nvSpPr>
          <p:cNvPr id="10" name="TextBox 9"/>
          <p:cNvSpPr txBox="1"/>
          <p:nvPr/>
        </p:nvSpPr>
        <p:spPr>
          <a:xfrm>
            <a:off x="914400" y="5669280"/>
            <a:ext cx="10058400" cy="731520"/>
          </a:xfrm>
          <a:prstGeom prst="rect">
            <a:avLst/>
          </a:prstGeom>
          <a:noFill/>
        </p:spPr>
        <p:txBody>
          <a:bodyPr wrap="square">
            <a:spAutoFit/>
          </a:bodyPr>
          <a:lstStyle/>
          <a:p>
            <a:pPr algn="ctr">
              <a:defRPr sz="1600" b="0">
                <a:solidFill>
                  <a:srgbClr val="A0AEC0"/>
                </a:solidFill>
              </a:defRPr>
            </a:pPr>
            <a:r>
              <a:t>Then paste the metaprompted result into Gemini Deep Research.</a:t>
            </a:r>
            <a:br/>
            <a:r>
              <a:t>Demo on the website → Agents page.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731520"/>
            <a:ext cx="10058400" cy="731520"/>
          </a:xfrm>
          <a:prstGeom prst="rect">
            <a:avLst/>
          </a:prstGeom>
          <a:noFill/>
        </p:spPr>
        <p:txBody>
          <a:bodyPr wrap="square">
            <a:spAutoFit/>
          </a:bodyPr>
          <a:lstStyle/>
          <a:p>
            <a:pPr algn="l">
              <a:defRPr sz="3600" b="1">
                <a:solidFill>
                  <a:srgbClr val="FFFFFF"/>
                </a:solidFill>
              </a:defRPr>
            </a:pPr>
            <a:r>
              <a:t>Demo: Two-stage drafting</a:t>
            </a:r>
          </a:p>
        </p:txBody>
      </p:sp>
      <p:sp>
        <p:nvSpPr>
          <p:cNvPr id="3" name="TextBox 2"/>
          <p:cNvSpPr txBox="1"/>
          <p:nvPr/>
        </p:nvSpPr>
        <p:spPr>
          <a:xfrm>
            <a:off x="914400" y="1554480"/>
            <a:ext cx="10058400" cy="548640"/>
          </a:xfrm>
          <a:prstGeom prst="rect">
            <a:avLst/>
          </a:prstGeom>
          <a:noFill/>
        </p:spPr>
        <p:txBody>
          <a:bodyPr wrap="square">
            <a:spAutoFit/>
          </a:bodyPr>
          <a:lstStyle/>
          <a:p>
            <a:pPr algn="l">
              <a:defRPr sz="2200" b="0">
                <a:solidFill>
                  <a:srgbClr val="A0AEC0"/>
                </a:solidFill>
              </a:defRPr>
            </a:pPr>
            <a:r>
              <a:t>Keeps client data out of Tier 1 tools</a:t>
            </a:r>
          </a:p>
        </p:txBody>
      </p:sp>
      <p:sp>
        <p:nvSpPr>
          <p:cNvPr id="4" name="TextBox 3"/>
          <p:cNvSpPr txBox="1"/>
          <p:nvPr/>
        </p:nvSpPr>
        <p:spPr>
          <a:xfrm>
            <a:off x="1097280" y="2377440"/>
            <a:ext cx="9144000" cy="1371600"/>
          </a:xfrm>
          <a:prstGeom prst="rect">
            <a:avLst/>
          </a:prstGeom>
          <a:noFill/>
        </p:spPr>
        <p:txBody>
          <a:bodyPr wrap="square">
            <a:spAutoFit/>
          </a:bodyPr>
          <a:lstStyle/>
          <a:p>
            <a:pPr>
              <a:spcAft>
                <a:spcPts val="800"/>
              </a:spcAft>
              <a:defRPr sz="2000">
                <a:solidFill>
                  <a:srgbClr val="E2E8F0"/>
                </a:solidFill>
              </a:defRPr>
            </a:pPr>
            <a:r>
              <a:t>•  Stage 1 (Any Tier): Research the law. No client facts.</a:t>
            </a:r>
          </a:p>
          <a:p>
            <a:pPr>
              <a:spcAft>
                <a:spcPts val="800"/>
              </a:spcAft>
              <a:defRPr sz="2000">
                <a:solidFill>
                  <a:srgbClr val="E2E8F0"/>
                </a:solidFill>
              </a:defRPr>
            </a:pPr>
            <a:r>
              <a:t>•  Stage 2 (Tier 3+ only): Draft with client facts using a DPA-protected tool.</a:t>
            </a:r>
          </a:p>
        </p:txBody>
      </p:sp>
      <p:sp>
        <p:nvSpPr>
          <p:cNvPr id="5" name="Rounded Rectangle 4"/>
          <p:cNvSpPr/>
          <p:nvPr/>
        </p:nvSpPr>
        <p:spPr>
          <a:xfrm>
            <a:off x="1828800" y="4114800"/>
            <a:ext cx="8503920" cy="201168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3120" y="4297680"/>
            <a:ext cx="7955279" cy="457200"/>
          </a:xfrm>
          <a:prstGeom prst="rect">
            <a:avLst/>
          </a:prstGeom>
          <a:noFill/>
        </p:spPr>
        <p:txBody>
          <a:bodyPr wrap="square">
            <a:spAutoFit/>
          </a:bodyPr>
          <a:lstStyle/>
          <a:p>
            <a:pPr algn="l">
              <a:defRPr sz="1800" b="1">
                <a:solidFill>
                  <a:srgbClr val="FFFFFF"/>
                </a:solidFill>
              </a:defRPr>
            </a:pPr>
            <a:r>
              <a:t>Why this works</a:t>
            </a:r>
          </a:p>
        </p:txBody>
      </p:sp>
      <p:sp>
        <p:nvSpPr>
          <p:cNvPr id="7" name="TextBox 6"/>
          <p:cNvSpPr txBox="1"/>
          <p:nvPr/>
        </p:nvSpPr>
        <p:spPr>
          <a:xfrm>
            <a:off x="2103120" y="4846320"/>
            <a:ext cx="7955279" cy="1097280"/>
          </a:xfrm>
          <a:prstGeom prst="rect">
            <a:avLst/>
          </a:prstGeom>
          <a:noFill/>
        </p:spPr>
        <p:txBody>
          <a:bodyPr wrap="square">
            <a:spAutoFit/>
          </a:bodyPr>
          <a:lstStyle/>
          <a:p>
            <a:pPr algn="l">
              <a:defRPr sz="1600" b="0">
                <a:solidFill>
                  <a:srgbClr val="E2E8F0"/>
                </a:solidFill>
              </a:defRPr>
            </a:pPr>
            <a:r>
              <a:t>Stage 1 uses the best free tools for what they're good at (research). Stage 2 uses protected tools only when client data enters the picture. You get the best of both without the ethics risk.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731520"/>
            <a:ext cx="10058400" cy="731520"/>
          </a:xfrm>
          <a:prstGeom prst="rect">
            <a:avLst/>
          </a:prstGeom>
          <a:noFill/>
        </p:spPr>
        <p:txBody>
          <a:bodyPr wrap="square">
            <a:spAutoFit/>
          </a:bodyPr>
          <a:lstStyle/>
          <a:p>
            <a:pPr algn="l">
              <a:defRPr sz="3600" b="1">
                <a:solidFill>
                  <a:srgbClr val="FFFFFF"/>
                </a:solidFill>
              </a:defRPr>
            </a:pPr>
            <a:r>
              <a:t>Transcription: Reduct vs. Word</a:t>
            </a:r>
          </a:p>
        </p:txBody>
      </p:sp>
      <p:sp>
        <p:nvSpPr>
          <p:cNvPr id="3" name="TextBox 2"/>
          <p:cNvSpPr txBox="1"/>
          <p:nvPr/>
        </p:nvSpPr>
        <p:spPr>
          <a:xfrm>
            <a:off x="1097280" y="1828800"/>
            <a:ext cx="9601200" cy="4114800"/>
          </a:xfrm>
          <a:prstGeom prst="rect">
            <a:avLst/>
          </a:prstGeom>
          <a:noFill/>
        </p:spPr>
        <p:txBody>
          <a:bodyPr wrap="square">
            <a:spAutoFit/>
          </a:bodyPr>
          <a:lstStyle/>
          <a:p>
            <a:pPr>
              <a:spcAft>
                <a:spcPts val="800"/>
              </a:spcAft>
              <a:defRPr sz="1800">
                <a:solidFill>
                  <a:srgbClr val="E2E8F0"/>
                </a:solidFill>
              </a:defRPr>
            </a:pPr>
            <a:r>
              <a:t>•  Reduct (Tier 3) — Accepts video natively. Searchable transcripts linked to timestamps. Click a word, jump to that moment. MSPD has enterprise agreement. Recommended.</a:t>
            </a:r>
          </a:p>
          <a:p>
            <a:pPr>
              <a:spcAft>
                <a:spcPts val="800"/>
              </a:spcAft>
              <a:defRPr sz="1800">
                <a:solidFill>
                  <a:srgbClr val="E2E8F0"/>
                </a:solidFill>
              </a:defRPr>
            </a:pPr>
            <a:r>
              <a:t>•  Word Transcribe (Tier 4) — No video support. Convert to audio first. One file at a time. 300 min/month. Lackluster editing pane. Workable but painful for batch processing.</a:t>
            </a:r>
          </a:p>
          <a:p>
            <a:pPr>
              <a:spcAft>
                <a:spcPts val="800"/>
              </a:spcAft>
              <a:defRPr sz="1800">
                <a:solidFill>
                  <a:srgbClr val="E2E8F0"/>
                </a:solidFill>
              </a:defRPr>
            </a:pPr>
            <a:r>
              <a:t>•  Otter.ai (Tier 1) — Do not use for client audio. Consumer tool. Trains on data.</a:t>
            </a:r>
          </a:p>
        </p:txBody>
      </p:sp>
      <p:sp>
        <p:nvSpPr>
          <p:cNvPr id="4" name="TextBox 3"/>
          <p:cNvSpPr txBox="1"/>
          <p:nvPr/>
        </p:nvSpPr>
        <p:spPr>
          <a:xfrm>
            <a:off x="914400" y="5669280"/>
            <a:ext cx="10058400" cy="548640"/>
          </a:xfrm>
          <a:prstGeom prst="rect">
            <a:avLst/>
          </a:prstGeom>
          <a:noFill/>
        </p:spPr>
        <p:txBody>
          <a:bodyPr wrap="square">
            <a:spAutoFit/>
          </a:bodyPr>
          <a:lstStyle/>
          <a:p>
            <a:pPr algn="ctr">
              <a:defRPr sz="1600" b="0">
                <a:solidFill>
                  <a:srgbClr val="A0AEC0"/>
                </a:solidFill>
              </a:defRPr>
            </a:pPr>
            <a:r>
              <a:t>Full comparison on Use Cases page.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914400"/>
            <a:ext cx="10058400" cy="731520"/>
          </a:xfrm>
          <a:prstGeom prst="rect">
            <a:avLst/>
          </a:prstGeom>
          <a:noFill/>
        </p:spPr>
        <p:txBody>
          <a:bodyPr wrap="square">
            <a:spAutoFit/>
          </a:bodyPr>
          <a:lstStyle/>
          <a:p>
            <a:pPr algn="ctr">
              <a:defRPr sz="3600" b="1">
                <a:solidFill>
                  <a:srgbClr val="FFFFFF"/>
                </a:solidFill>
              </a:defRPr>
            </a:pPr>
            <a:r>
              <a:t>This site is a meta-demo</a:t>
            </a:r>
          </a:p>
        </p:txBody>
      </p:sp>
      <p:sp>
        <p:nvSpPr>
          <p:cNvPr id="3" name="TextBox 2"/>
          <p:cNvSpPr txBox="1"/>
          <p:nvPr/>
        </p:nvSpPr>
        <p:spPr>
          <a:xfrm>
            <a:off x="1371600" y="2011680"/>
            <a:ext cx="9144000" cy="1097280"/>
          </a:xfrm>
          <a:prstGeom prst="rect">
            <a:avLst/>
          </a:prstGeom>
          <a:noFill/>
        </p:spPr>
        <p:txBody>
          <a:bodyPr wrap="square">
            <a:spAutoFit/>
          </a:bodyPr>
          <a:lstStyle/>
          <a:p>
            <a:pPr algn="ctr">
              <a:defRPr sz="2000" b="0">
                <a:solidFill>
                  <a:srgbClr val="E2E8F0"/>
                </a:solidFill>
              </a:defRPr>
            </a:pPr>
            <a:r>
              <a:t>This entire website — the research, the writing, the code — was built using Claude Code, an AI coding agent.</a:t>
            </a:r>
            <a:br/>
            <a:br/>
            <a:r>
              <a:t>I used it at Tier 3 (API key authentication). No client data was involved. The same tool at Tier 1 (consumer login) would have trained on every line of code.</a:t>
            </a:r>
          </a:p>
        </p:txBody>
      </p:sp>
      <p:sp>
        <p:nvSpPr>
          <p:cNvPr id="4" name="Rounded Rectangle 3"/>
          <p:cNvSpPr/>
          <p:nvPr/>
        </p:nvSpPr>
        <p:spPr>
          <a:xfrm>
            <a:off x="2286000" y="4114800"/>
            <a:ext cx="7589520" cy="18288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560320" y="4297680"/>
            <a:ext cx="7040880" cy="457200"/>
          </a:xfrm>
          <a:prstGeom prst="rect">
            <a:avLst/>
          </a:prstGeom>
          <a:noFill/>
        </p:spPr>
        <p:txBody>
          <a:bodyPr wrap="square">
            <a:spAutoFit/>
          </a:bodyPr>
          <a:lstStyle/>
          <a:p>
            <a:pPr algn="l">
              <a:defRPr sz="1800" b="1">
                <a:solidFill>
                  <a:srgbClr val="FFFFFF"/>
                </a:solidFill>
              </a:defRPr>
            </a:pPr>
            <a:r>
              <a:t>The point</a:t>
            </a:r>
          </a:p>
        </p:txBody>
      </p:sp>
      <p:sp>
        <p:nvSpPr>
          <p:cNvPr id="6" name="TextBox 5"/>
          <p:cNvSpPr txBox="1"/>
          <p:nvPr/>
        </p:nvSpPr>
        <p:spPr>
          <a:xfrm>
            <a:off x="2560320" y="4846320"/>
            <a:ext cx="7040880" cy="914400"/>
          </a:xfrm>
          <a:prstGeom prst="rect">
            <a:avLst/>
          </a:prstGeom>
          <a:noFill/>
        </p:spPr>
        <p:txBody>
          <a:bodyPr wrap="square">
            <a:spAutoFit/>
          </a:bodyPr>
          <a:lstStyle/>
          <a:p>
            <a:pPr algn="l">
              <a:defRPr sz="1600" b="0">
                <a:solidFill>
                  <a:srgbClr val="E2E8F0"/>
                </a:solidFill>
              </a:defRPr>
            </a:pPr>
            <a:r>
              <a:t>AI is a practical tool you can use right now — if you understand the guardrails. This site teaches those guardrails and demonstrates the capability at the same 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731520"/>
            <a:ext cx="10058400" cy="731520"/>
          </a:xfrm>
          <a:prstGeom prst="rect">
            <a:avLst/>
          </a:prstGeom>
          <a:noFill/>
        </p:spPr>
        <p:txBody>
          <a:bodyPr wrap="square">
            <a:spAutoFit/>
          </a:bodyPr>
          <a:lstStyle/>
          <a:p>
            <a:pPr algn="l">
              <a:defRPr sz="3600" b="1">
                <a:solidFill>
                  <a:srgbClr val="FFFFFF"/>
                </a:solidFill>
              </a:defRPr>
            </a:pPr>
            <a:r>
              <a:t>What to do Monday morning</a:t>
            </a:r>
          </a:p>
        </p:txBody>
      </p:sp>
      <p:sp>
        <p:nvSpPr>
          <p:cNvPr id="3" name="TextBox 2"/>
          <p:cNvSpPr txBox="1"/>
          <p:nvPr/>
        </p:nvSpPr>
        <p:spPr>
          <a:xfrm>
            <a:off x="1097280" y="1828800"/>
            <a:ext cx="9601200" cy="4114800"/>
          </a:xfrm>
          <a:prstGeom prst="rect">
            <a:avLst/>
          </a:prstGeom>
          <a:noFill/>
        </p:spPr>
        <p:txBody>
          <a:bodyPr wrap="square">
            <a:spAutoFit/>
          </a:bodyPr>
          <a:lstStyle/>
          <a:p>
            <a:pPr>
              <a:spcAft>
                <a:spcPts val="800"/>
              </a:spcAft>
              <a:defRPr sz="2000">
                <a:solidFill>
                  <a:srgbClr val="E2E8F0"/>
                </a:solidFill>
              </a:defRPr>
            </a:pPr>
            <a:r>
              <a:t>•  Check your tools. Are you using free Copilot or M365 Copilot? Personal Gemini or Workspace? Claude Free or API?</a:t>
            </a:r>
          </a:p>
          <a:p>
            <a:pPr>
              <a:spcAft>
                <a:spcPts val="800"/>
              </a:spcAft>
              <a:defRPr sz="2000">
                <a:solidFill>
                  <a:srgbClr val="E2E8F0"/>
                </a:solidFill>
              </a:defRPr>
            </a:pPr>
            <a:r>
              <a:t>•  Toggle training off. On every consumer AI tool: Settings → turn off model improvement / training.</a:t>
            </a:r>
          </a:p>
          <a:p>
            <a:pPr>
              <a:spcAft>
                <a:spcPts val="800"/>
              </a:spcAft>
              <a:defRPr sz="2000">
                <a:solidFill>
                  <a:srgbClr val="E2E8F0"/>
                </a:solidFill>
              </a:defRPr>
            </a:pPr>
            <a:r>
              <a:t>•  Never click thumbs up/down on conversations with client information.</a:t>
            </a:r>
          </a:p>
          <a:p>
            <a:pPr>
              <a:spcAft>
                <a:spcPts val="800"/>
              </a:spcAft>
              <a:defRPr sz="2000">
                <a:solidFill>
                  <a:srgbClr val="E2E8F0"/>
                </a:solidFill>
              </a:defRPr>
            </a:pPr>
            <a:r>
              <a:t>•  Use the two-stage approach. Research at any tier, draft at Tier 3+.</a:t>
            </a:r>
          </a:p>
          <a:p>
            <a:pPr>
              <a:spcAft>
                <a:spcPts val="800"/>
              </a:spcAft>
              <a:defRPr sz="2000">
                <a:solidFill>
                  <a:srgbClr val="E2E8F0"/>
                </a:solidFill>
              </a:defRPr>
            </a:pPr>
            <a:r>
              <a:t>•  Bookmark the website. Use it as a reference when evaluating new tools.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457200"/>
            <a:ext cx="10058400" cy="731520"/>
          </a:xfrm>
          <a:prstGeom prst="rect">
            <a:avLst/>
          </a:prstGeom>
          <a:noFill/>
        </p:spPr>
        <p:txBody>
          <a:bodyPr wrap="square">
            <a:spAutoFit/>
          </a:bodyPr>
          <a:lstStyle/>
          <a:p>
            <a:pPr algn="ctr">
              <a:defRPr sz="3600" b="1">
                <a:solidFill>
                  <a:srgbClr val="FFFFFF"/>
                </a:solidFill>
              </a:defRPr>
            </a:pPr>
            <a:r>
              <a:t>What does ethical AI cost?</a:t>
            </a:r>
          </a:p>
        </p:txBody>
      </p:sp>
      <p:sp>
        <p:nvSpPr>
          <p:cNvPr id="3" name="Rounded Rectangle 2"/>
          <p:cNvSpPr/>
          <p:nvPr/>
        </p:nvSpPr>
        <p:spPr>
          <a:xfrm>
            <a:off x="731520" y="1645920"/>
            <a:ext cx="2560320" cy="4114800"/>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28800"/>
            <a:ext cx="2286000" cy="731520"/>
          </a:xfrm>
          <a:prstGeom prst="rect">
            <a:avLst/>
          </a:prstGeom>
          <a:noFill/>
        </p:spPr>
        <p:txBody>
          <a:bodyPr wrap="square">
            <a:spAutoFit/>
          </a:bodyPr>
          <a:lstStyle/>
          <a:p>
            <a:pPr algn="l">
              <a:defRPr sz="2200" b="1">
                <a:solidFill>
                  <a:srgbClr val="63B3ED"/>
                </a:solidFill>
              </a:defRPr>
            </a:pPr>
            <a:r>
              <a:t>$7/user/mo</a:t>
            </a:r>
          </a:p>
        </p:txBody>
      </p:sp>
      <p:sp>
        <p:nvSpPr>
          <p:cNvPr id="5" name="TextBox 4"/>
          <p:cNvSpPr txBox="1"/>
          <p:nvPr/>
        </p:nvSpPr>
        <p:spPr>
          <a:xfrm>
            <a:off x="868680" y="2926080"/>
            <a:ext cx="2286000" cy="2286000"/>
          </a:xfrm>
          <a:prstGeom prst="rect">
            <a:avLst/>
          </a:prstGeom>
          <a:noFill/>
        </p:spPr>
        <p:txBody>
          <a:bodyPr wrap="square">
            <a:spAutoFit/>
          </a:bodyPr>
          <a:lstStyle/>
          <a:p>
            <a:pPr algn="l">
              <a:defRPr sz="1500" b="0">
                <a:solidFill>
                  <a:srgbClr val="E2E8F0"/>
                </a:solidFill>
              </a:defRPr>
            </a:pPr>
            <a:r>
              <a:t>Google Workspace Business Starter. Tier 4. Full Gemini AI.</a:t>
            </a:r>
          </a:p>
        </p:txBody>
      </p:sp>
      <p:sp>
        <p:nvSpPr>
          <p:cNvPr id="6" name="Rounded Rectangle 5"/>
          <p:cNvSpPr/>
          <p:nvPr/>
        </p:nvSpPr>
        <p:spPr>
          <a:xfrm>
            <a:off x="3474720" y="1645920"/>
            <a:ext cx="2560320" cy="4114800"/>
          </a:xfrm>
          <a:prstGeom prst="round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79" y="1828800"/>
            <a:ext cx="2286000" cy="731520"/>
          </a:xfrm>
          <a:prstGeom prst="rect">
            <a:avLst/>
          </a:prstGeom>
          <a:noFill/>
        </p:spPr>
        <p:txBody>
          <a:bodyPr wrap="square">
            <a:spAutoFit/>
          </a:bodyPr>
          <a:lstStyle/>
          <a:p>
            <a:pPr algn="l">
              <a:defRPr sz="2200" b="1">
                <a:solidFill>
                  <a:srgbClr val="63B3ED"/>
                </a:solidFill>
              </a:defRPr>
            </a:pPr>
            <a:r>
              <a:t>$30/user/mo add-on</a:t>
            </a:r>
          </a:p>
        </p:txBody>
      </p:sp>
      <p:sp>
        <p:nvSpPr>
          <p:cNvPr id="8" name="TextBox 7"/>
          <p:cNvSpPr txBox="1"/>
          <p:nvPr/>
        </p:nvSpPr>
        <p:spPr>
          <a:xfrm>
            <a:off x="3611879" y="2926080"/>
            <a:ext cx="2286000" cy="2286000"/>
          </a:xfrm>
          <a:prstGeom prst="rect">
            <a:avLst/>
          </a:prstGeom>
          <a:noFill/>
        </p:spPr>
        <p:txBody>
          <a:bodyPr wrap="square">
            <a:spAutoFit/>
          </a:bodyPr>
          <a:lstStyle/>
          <a:p>
            <a:pPr algn="l">
              <a:defRPr sz="1500" b="0">
                <a:solidFill>
                  <a:srgbClr val="E2E8F0"/>
                </a:solidFill>
              </a:defRPr>
            </a:pPr>
            <a:r>
              <a:t>M365 Copilot. Tier 4. If you already have M365.</a:t>
            </a:r>
          </a:p>
        </p:txBody>
      </p:sp>
      <p:sp>
        <p:nvSpPr>
          <p:cNvPr id="9" name="Rounded Rectangle 8"/>
          <p:cNvSpPr/>
          <p:nvPr/>
        </p:nvSpPr>
        <p:spPr>
          <a:xfrm>
            <a:off x="6217920" y="1645920"/>
            <a:ext cx="2560320" cy="4114800"/>
          </a:xfrm>
          <a:prstGeom prst="roundRect">
            <a:avLst/>
          </a:prstGeom>
          <a:solidFill>
            <a:srgbClr val="1A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828800"/>
            <a:ext cx="2286000" cy="731520"/>
          </a:xfrm>
          <a:prstGeom prst="rect">
            <a:avLst/>
          </a:prstGeom>
          <a:noFill/>
        </p:spPr>
        <p:txBody>
          <a:bodyPr wrap="square">
            <a:spAutoFit/>
          </a:bodyPr>
          <a:lstStyle/>
          <a:p>
            <a:pPr algn="l">
              <a:defRPr sz="2200" b="1">
                <a:solidFill>
                  <a:srgbClr val="68D391"/>
                </a:solidFill>
              </a:defRPr>
            </a:pPr>
            <a:r>
              <a:t>$1-5/M tokens</a:t>
            </a:r>
          </a:p>
        </p:txBody>
      </p:sp>
      <p:sp>
        <p:nvSpPr>
          <p:cNvPr id="11" name="TextBox 10"/>
          <p:cNvSpPr txBox="1"/>
          <p:nvPr/>
        </p:nvSpPr>
        <p:spPr>
          <a:xfrm>
            <a:off x="6355080" y="2926080"/>
            <a:ext cx="2286000" cy="2286000"/>
          </a:xfrm>
          <a:prstGeom prst="rect">
            <a:avLst/>
          </a:prstGeom>
          <a:noFill/>
        </p:spPr>
        <p:txBody>
          <a:bodyPr wrap="square">
            <a:spAutoFit/>
          </a:bodyPr>
          <a:lstStyle/>
          <a:p>
            <a:pPr algn="l">
              <a:defRPr sz="1500" b="0">
                <a:solidFill>
                  <a:srgbClr val="E2E8F0"/>
                </a:solidFill>
              </a:defRPr>
            </a:pPr>
            <a:r>
              <a:t>Anthropic API (Haiku). Tier 3. For developers.</a:t>
            </a:r>
          </a:p>
        </p:txBody>
      </p:sp>
      <p:sp>
        <p:nvSpPr>
          <p:cNvPr id="12" name="Rounded Rectangle 11"/>
          <p:cNvSpPr/>
          <p:nvPr/>
        </p:nvSpPr>
        <p:spPr>
          <a:xfrm>
            <a:off x="8961120" y="1645920"/>
            <a:ext cx="2560320" cy="4114800"/>
          </a:xfrm>
          <a:prstGeom prst="roundRect">
            <a:avLst/>
          </a:prstGeom>
          <a:solidFill>
            <a:srgbClr val="1A3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1828800"/>
            <a:ext cx="2286000" cy="731520"/>
          </a:xfrm>
          <a:prstGeom prst="rect">
            <a:avLst/>
          </a:prstGeom>
          <a:noFill/>
        </p:spPr>
        <p:txBody>
          <a:bodyPr wrap="square">
            <a:spAutoFit/>
          </a:bodyPr>
          <a:lstStyle/>
          <a:p>
            <a:pPr algn="l">
              <a:defRPr sz="2200" b="1">
                <a:solidFill>
                  <a:srgbClr val="68D391"/>
                </a:solidFill>
              </a:defRPr>
            </a:pPr>
            <a:r>
              <a:t>$159/user/mo</a:t>
            </a:r>
          </a:p>
        </p:txBody>
      </p:sp>
      <p:sp>
        <p:nvSpPr>
          <p:cNvPr id="14" name="TextBox 13"/>
          <p:cNvSpPr txBox="1"/>
          <p:nvPr/>
        </p:nvSpPr>
        <p:spPr>
          <a:xfrm>
            <a:off x="9098280" y="2926080"/>
            <a:ext cx="2286000" cy="2286000"/>
          </a:xfrm>
          <a:prstGeom prst="rect">
            <a:avLst/>
          </a:prstGeom>
          <a:noFill/>
        </p:spPr>
        <p:txBody>
          <a:bodyPr wrap="square">
            <a:spAutoFit/>
          </a:bodyPr>
          <a:lstStyle/>
          <a:p>
            <a:pPr algn="l">
              <a:defRPr sz="1500" b="0">
                <a:solidFill>
                  <a:srgbClr val="E2E8F0"/>
                </a:solidFill>
              </a:defRPr>
            </a:pPr>
            <a:r>
              <a:t>Paxton AI. Tier 3. Criminal defense features.</a:t>
            </a:r>
          </a:p>
        </p:txBody>
      </p:sp>
      <p:sp>
        <p:nvSpPr>
          <p:cNvPr id="15" name="TextBox 14"/>
          <p:cNvSpPr txBox="1"/>
          <p:nvPr/>
        </p:nvSpPr>
        <p:spPr>
          <a:xfrm>
            <a:off x="914400" y="5943600"/>
            <a:ext cx="10058400" cy="548640"/>
          </a:xfrm>
          <a:prstGeom prst="rect">
            <a:avLst/>
          </a:prstGeom>
          <a:noFill/>
        </p:spPr>
        <p:txBody>
          <a:bodyPr wrap="square">
            <a:spAutoFit/>
          </a:bodyPr>
          <a:lstStyle/>
          <a:p>
            <a:pPr algn="ctr">
              <a:defRPr sz="1600" b="0">
                <a:solidFill>
                  <a:srgbClr val="A0AEC0"/>
                </a:solidFill>
              </a:defRPr>
            </a:pPr>
            <a:r>
              <a:t>Full pricing comparison on Vendor Details page.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731520"/>
            <a:ext cx="10058400" cy="731520"/>
          </a:xfrm>
          <a:prstGeom prst="rect">
            <a:avLst/>
          </a:prstGeom>
          <a:noFill/>
        </p:spPr>
        <p:txBody>
          <a:bodyPr wrap="square">
            <a:spAutoFit/>
          </a:bodyPr>
          <a:lstStyle/>
          <a:p>
            <a:pPr algn="l">
              <a:defRPr sz="3600" b="1">
                <a:solidFill>
                  <a:srgbClr val="FFFFFF"/>
                </a:solidFill>
              </a:defRPr>
            </a:pPr>
            <a:r>
              <a:t>Essential resources</a:t>
            </a:r>
          </a:p>
        </p:txBody>
      </p:sp>
      <p:sp>
        <p:nvSpPr>
          <p:cNvPr id="3" name="TextBox 2"/>
          <p:cNvSpPr txBox="1"/>
          <p:nvPr/>
        </p:nvSpPr>
        <p:spPr>
          <a:xfrm>
            <a:off x="1097280" y="1828800"/>
            <a:ext cx="9601200" cy="3657600"/>
          </a:xfrm>
          <a:prstGeom prst="rect">
            <a:avLst/>
          </a:prstGeom>
          <a:noFill/>
        </p:spPr>
        <p:txBody>
          <a:bodyPr wrap="square">
            <a:spAutoFit/>
          </a:bodyPr>
          <a:lstStyle/>
          <a:p>
            <a:pPr>
              <a:spcAft>
                <a:spcPts val="800"/>
              </a:spcAft>
              <a:defRPr sz="2000">
                <a:solidFill>
                  <a:srgbClr val="E2E8F0"/>
                </a:solidFill>
              </a:defRPr>
            </a:pPr>
            <a:r>
              <a:t>•  This website — bookmark it, browse it, share it</a:t>
            </a:r>
          </a:p>
          <a:p>
            <a:pPr>
              <a:spcAft>
                <a:spcPts val="800"/>
              </a:spcAft>
              <a:defRPr sz="2000">
                <a:solidFill>
                  <a:srgbClr val="E2E8F0"/>
                </a:solidFill>
              </a:defRPr>
            </a:pPr>
            <a:r>
              <a:t>•  Missouri Opinion 2024-11 — your jurisdiction's rules</a:t>
            </a:r>
          </a:p>
          <a:p>
            <a:pPr>
              <a:spcAft>
                <a:spcPts val="800"/>
              </a:spcAft>
              <a:defRPr sz="2000">
                <a:solidFill>
                  <a:srgbClr val="E2E8F0"/>
                </a:solidFill>
              </a:defRPr>
            </a:pPr>
            <a:r>
              <a:t>•  ABA Formal Opinion 512 — the national standard</a:t>
            </a:r>
          </a:p>
          <a:p>
            <a:pPr>
              <a:spcAft>
                <a:spcPts val="800"/>
              </a:spcAft>
              <a:defRPr sz="2000">
                <a:solidFill>
                  <a:srgbClr val="E2E8F0"/>
                </a:solidFill>
              </a:defRPr>
            </a:pPr>
            <a:r>
              <a:t>•  NYC Bar AI Ethics Compilation — best single reference</a:t>
            </a:r>
          </a:p>
          <a:p>
            <a:pPr>
              <a:spcAft>
                <a:spcPts val="800"/>
              </a:spcAft>
              <a:defRPr sz="2000">
                <a:solidFill>
                  <a:srgbClr val="E2E8F0"/>
                </a:solidFill>
              </a:defRPr>
            </a:pPr>
            <a:r>
              <a:t>•  Justia 50-State Survey — what other states require</a:t>
            </a:r>
          </a:p>
        </p:txBody>
      </p:sp>
      <p:sp>
        <p:nvSpPr>
          <p:cNvPr id="4" name="TextBox 3"/>
          <p:cNvSpPr txBox="1"/>
          <p:nvPr/>
        </p:nvSpPr>
        <p:spPr>
          <a:xfrm>
            <a:off x="914400" y="5669280"/>
            <a:ext cx="10058400" cy="548640"/>
          </a:xfrm>
          <a:prstGeom prst="rect">
            <a:avLst/>
          </a:prstGeom>
          <a:noFill/>
        </p:spPr>
        <p:txBody>
          <a:bodyPr wrap="square">
            <a:spAutoFit/>
          </a:bodyPr>
          <a:lstStyle/>
          <a:p>
            <a:pPr algn="ctr">
              <a:defRPr sz="1600" b="0">
                <a:solidFill>
                  <a:srgbClr val="A0AEC0"/>
                </a:solidFill>
              </a:defRPr>
            </a:pPr>
            <a:r>
              <a:t>All links on the Ethics Opinions page.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ctr">
              <a:defRPr sz="4800" b="1">
                <a:solidFill>
                  <a:srgbClr val="FFFFFF"/>
                </a:solidFill>
              </a:defRPr>
            </a:pPr>
            <a:r>
              <a:t>Questions?</a:t>
            </a:r>
          </a:p>
        </p:txBody>
      </p:sp>
      <p:sp>
        <p:nvSpPr>
          <p:cNvPr id="3" name="Rounded Rectangle 2"/>
          <p:cNvSpPr/>
          <p:nvPr/>
        </p:nvSpPr>
        <p:spPr>
          <a:xfrm>
            <a:off x="4754880" y="2926080"/>
            <a:ext cx="2743200" cy="13716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0" y="3108960"/>
            <a:ext cx="2743200" cy="914400"/>
          </a:xfrm>
          <a:prstGeom prst="rect">
            <a:avLst/>
          </a:prstGeom>
          <a:noFill/>
        </p:spPr>
        <p:txBody>
          <a:bodyPr wrap="square">
            <a:spAutoFit/>
          </a:bodyPr>
          <a:lstStyle/>
          <a:p>
            <a:pPr algn="ctr">
              <a:defRPr sz="1800" b="0">
                <a:solidFill>
                  <a:srgbClr val="A0AEC0"/>
                </a:solidFill>
              </a:defRPr>
            </a:pPr>
            <a:r>
              <a:t>[QR Code]</a:t>
            </a:r>
            <a:br/>
            <a:r>
              <a:t>Add URL here</a:t>
            </a:r>
          </a:p>
        </p:txBody>
      </p:sp>
      <p:sp>
        <p:nvSpPr>
          <p:cNvPr id="5" name="TextBox 4"/>
          <p:cNvSpPr txBox="1"/>
          <p:nvPr/>
        </p:nvSpPr>
        <p:spPr>
          <a:xfrm>
            <a:off x="914400" y="4754880"/>
            <a:ext cx="10058400" cy="548640"/>
          </a:xfrm>
          <a:prstGeom prst="rect">
            <a:avLst/>
          </a:prstGeom>
          <a:noFill/>
        </p:spPr>
        <p:txBody>
          <a:bodyPr wrap="square">
            <a:spAutoFit/>
          </a:bodyPr>
          <a:lstStyle/>
          <a:p>
            <a:pPr algn="ctr">
              <a:defRPr sz="2200" b="0">
                <a:solidFill>
                  <a:srgbClr val="E2E8F0"/>
                </a:solidFill>
              </a:defRPr>
            </a:pPr>
            <a:r>
              <a:t>Scan. Bookmark. Come back when you need it.</a:t>
            </a:r>
          </a:p>
        </p:txBody>
      </p:sp>
      <p:sp>
        <p:nvSpPr>
          <p:cNvPr id="6" name="TextBox 5"/>
          <p:cNvSpPr txBox="1"/>
          <p:nvPr/>
        </p:nvSpPr>
        <p:spPr>
          <a:xfrm>
            <a:off x="914400" y="5669280"/>
            <a:ext cx="10058400" cy="548640"/>
          </a:xfrm>
          <a:prstGeom prst="rect">
            <a:avLst/>
          </a:prstGeom>
          <a:noFill/>
        </p:spPr>
        <p:txBody>
          <a:bodyPr wrap="square">
            <a:spAutoFit/>
          </a:bodyPr>
          <a:lstStyle/>
          <a:p>
            <a:pPr algn="ctr">
              <a:defRPr sz="1800" b="0">
                <a:solidFill>
                  <a:srgbClr val="A0AEC0"/>
                </a:solidFill>
              </a:defRPr>
            </a:pPr>
            <a:r>
              <a:t>Travis Martin — MSPD Legal Technology Strategist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